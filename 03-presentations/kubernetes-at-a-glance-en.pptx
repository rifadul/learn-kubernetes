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if our payment callback server crashes at 3 a.m. today, what happens? Who notices, and how long until it is fixed? Today we will see how Kubernetes handles that on its own. 8 slides, 10–12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definition, then the four jobs. The bottom row is the core idea: you write what you want (desired state), and Kubernetes keeps comparing it with what is actually running (actual state) and fixes any difference on its own — this is called reconciliation. Analogy: set an AC thermostat to 24°C and it keeps measuring and cooling the room by itself. History: inspired by Google's internal systems, open-sourced in 2014, now run under the CNCF, and offered as a managed service by every major cloud — AWS (EKS), Google (GKE), Azure (AKS).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matter most for our payment callbacks. Ask the room: which of these has already happened to us? Each row is a manual job today that Kubernetes does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small to big: a container runs inside a Pod → Pods run on nodes → nodes together make a cluster. A Deployment decides how many Pods; a Service gives them one stable address. The bottom line reminds everyone that all of this is written in YAML and sent with kubectl.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step. The key point: you only do step 1; the other five are done automatically by different parts of the cluster. Later, a user's request goes through the Service to any healthy Pod — the user never needs to know which node a Pod is on. Finish by asking: what happens if a worker node dies? (third box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sample architecture — not our actual system, but close to the kind of work we do. Walk through what Kubernetes does at each part: payment-gateway runs 3 Pods; if one crashes, the other two keep serving and Kubernetes starts a new one (self-healing). During a campaign, the HPA grows it from 3 to 10 Pods (autoscaling). New versions roll out one Pod at a time, so no callback is lost (rolling update). API keys live in a Secret, not in code. Renewals run as a CronJob. The database and payment providers sit outside the cluster — keeping the DB on a managed service is the safer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Kubernetes is not the answer to everything. For a small app it is heavy and adds cost. The rule: have the problem first, then adopt Kubernetes. The next slide shows why our work really does have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Tie each of the four reasons to our own work. Stress the third: even when a platform team runs the cluster, if we can't read our app's YAML, probes and resources, or understand problems like CrashLoopBackOff, we can't fix our own app. Then share the plan and take questions: which of our services would be the best first candidate for Kubernetes,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6"/>
            <a:ext cx="10566467" cy="525749"/>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43315"/>
            <a:ext cx="10566433" cy="440188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6"/>
            <a:ext cx="10566467" cy="525749"/>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43315"/>
            <a:ext cx="10566433" cy="440188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67" y="2282197"/>
            <a:ext cx="10883461" cy="27432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B0F2"/>
                </a:solidFill>
                <a:latin typeface="Hind Siliguri" pitchFamily="34" charset="0"/>
                <a:ea typeface="Hind Siliguri" pitchFamily="34" charset="-122"/>
                <a:cs typeface="Hind Siliguri" pitchFamily="34" charset="-120"/>
              </a:rPr>
              <a:t>INTEGRATION TEAM · LEARNING SESSION</a:t>
            </a:r>
            <a:endParaRPr lang="en-US" sz="1400" dirty="0"/>
          </a:p>
        </p:txBody>
      </p:sp>
      <p:sp>
        <p:nvSpPr>
          <p:cNvPr id="3" name="Text 1"/>
          <p:cNvSpPr/>
          <p:nvPr>
            <p:ph type="title"/>
          </p:nvPr>
        </p:nvSpPr>
        <p:spPr>
          <a:xfrm>
            <a:off x="812767" y="2734303"/>
            <a:ext cx="10883461" cy="901667"/>
          </a:xfrm>
          <a:prstGeom prst="rect">
            <a:avLst/>
          </a:prstGeom>
          <a:noFill/>
          <a:ln/>
        </p:spPr>
        <p:txBody>
          <a:bodyPr wrap="square" lIns="0" tIns="0" rIns="0" bIns="0" rtlCol="0" anchor="t">
            <a:normAutofit/>
          </a:bodyPr>
          <a:lstStyle/>
          <a:p>
            <a:pPr algn="l" indent="0" marL="0">
              <a:lnSpc>
                <a:spcPts val="6900"/>
              </a:lnSpc>
              <a:buNone/>
            </a:pPr>
            <a:r>
              <a:rPr lang="en-US" sz="6000" b="1" i="0" dirty="0">
                <a:solidFill>
                  <a:srgbClr val="F7F6F1"/>
                </a:solidFill>
                <a:latin typeface="Hind Siliguri" pitchFamily="34" charset="0"/>
                <a:ea typeface="Hind Siliguri" pitchFamily="34" charset="-122"/>
                <a:cs typeface="Hind Siliguri" pitchFamily="34" charset="-120"/>
              </a:rPr>
              <a:t>Kubernetes at a Glance</a:t>
            </a:r>
            <a:endParaRPr lang="en-US" sz="6000" dirty="0"/>
          </a:p>
        </p:txBody>
      </p:sp>
      <p:sp>
        <p:nvSpPr>
          <p:cNvPr id="4" name="Text 2"/>
          <p:cNvSpPr/>
          <p:nvPr/>
        </p:nvSpPr>
        <p:spPr>
          <a:xfrm>
            <a:off x="812767" y="3813749"/>
            <a:ext cx="8502651" cy="787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C9D3E6"/>
                </a:solidFill>
                <a:latin typeface="Hind Siliguri" pitchFamily="34" charset="0"/>
                <a:ea typeface="Hind Siliguri" pitchFamily="34" charset="-122"/>
                <a:cs typeface="Hind Siliguri" pitchFamily="34" charset="-120"/>
              </a:rPr>
              <a:t>What it is, the problems it solves, how it works, a real example — and why we are learning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What is Kubernetes?</a:t>
            </a:r>
            <a:endParaRPr lang="en-US" sz="3600" dirty="0"/>
          </a:p>
        </p:txBody>
      </p:sp>
      <p:sp>
        <p:nvSpPr>
          <p:cNvPr id="3" name="Text 1"/>
          <p:cNvSpPr/>
          <p:nvPr/>
        </p:nvSpPr>
        <p:spPr>
          <a:xfrm>
            <a:off x="812767" y="1541694"/>
            <a:ext cx="10464801" cy="634934"/>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213D"/>
                </a:solidFill>
                <a:latin typeface="Hind Siliguri" pitchFamily="34" charset="0"/>
                <a:ea typeface="Hind Siliguri" pitchFamily="34" charset="-122"/>
                <a:cs typeface="Hind Siliguri" pitchFamily="34" charset="-120"/>
              </a:rPr>
              <a:t>Kubernetes (K8s)</a:t>
            </a:r>
            <a:r>
              <a:rPr lang="en-US" sz="1600" dirty="0">
                <a:solidFill>
                  <a:srgbClr val="3D4A5C"/>
                </a:solidFill>
                <a:latin typeface="Hind Siliguri" pitchFamily="34" charset="0"/>
                <a:ea typeface="Hind Siliguri" pitchFamily="34" charset="-122"/>
                <a:cs typeface="Hind Siliguri" pitchFamily="34" charset="-120"/>
              </a:rPr>
              <a:t> is an open-source </a:t>
            </a:r>
            <a:r>
              <a:rPr lang="en-US" sz="1600" b="1" dirty="0">
                <a:solidFill>
                  <a:srgbClr val="14213D"/>
                </a:solidFill>
                <a:latin typeface="Hind Siliguri" pitchFamily="34" charset="0"/>
                <a:ea typeface="Hind Siliguri" pitchFamily="34" charset="-122"/>
                <a:cs typeface="Hind Siliguri" pitchFamily="34" charset="-120"/>
              </a:rPr>
              <a:t>container orchestrator</a:t>
            </a:r>
            <a:r>
              <a:rPr lang="en-US" sz="1600" dirty="0">
                <a:solidFill>
                  <a:srgbClr val="3D4A5C"/>
                </a:solidFill>
                <a:latin typeface="Hind Siliguri" pitchFamily="34" charset="0"/>
                <a:ea typeface="Hind Siliguri" pitchFamily="34" charset="-122"/>
                <a:cs typeface="Hind Siliguri" pitchFamily="34" charset="-120"/>
              </a:rPr>
              <a:t> — it lets you use many servers as if they were one big computer. You say </a:t>
            </a:r>
            <a:r>
              <a:rPr lang="en-US" sz="1600" i="1" dirty="0">
                <a:solidFill>
                  <a:srgbClr val="3D4A5C"/>
                </a:solidFill>
                <a:latin typeface="Hind Siliguri" pitchFamily="34" charset="0"/>
                <a:ea typeface="Hind Siliguri" pitchFamily="34" charset="-122"/>
                <a:cs typeface="Hind Siliguri" pitchFamily="34" charset="-120"/>
              </a:rPr>
              <a:t>what</a:t>
            </a:r>
            <a:r>
              <a:rPr lang="en-US" sz="1600" dirty="0">
                <a:solidFill>
                  <a:srgbClr val="3D4A5C"/>
                </a:solidFill>
                <a:latin typeface="Hind Siliguri" pitchFamily="34" charset="0"/>
                <a:ea typeface="Hind Siliguri" pitchFamily="34" charset="-122"/>
                <a:cs typeface="Hind Siliguri" pitchFamily="34" charset="-120"/>
              </a:rPr>
              <a:t> to run; Kubernetes decides </a:t>
            </a:r>
            <a:r>
              <a:rPr lang="en-US" sz="1600" i="1" dirty="0">
                <a:solidFill>
                  <a:srgbClr val="3D4A5C"/>
                </a:solidFill>
                <a:latin typeface="Hind Siliguri" pitchFamily="34" charset="0"/>
                <a:ea typeface="Hind Siliguri" pitchFamily="34" charset="-122"/>
                <a:cs typeface="Hind Siliguri" pitchFamily="34" charset="-120"/>
              </a:rPr>
              <a:t>where</a:t>
            </a:r>
            <a:r>
              <a:rPr lang="en-US" sz="1600" dirty="0">
                <a:solidFill>
                  <a:srgbClr val="3D4A5C"/>
                </a:solidFill>
                <a:latin typeface="Hind Siliguri" pitchFamily="34" charset="0"/>
                <a:ea typeface="Hind Siliguri" pitchFamily="34" charset="-122"/>
                <a:cs typeface="Hind Siliguri" pitchFamily="34" charset="-120"/>
              </a:rPr>
              <a:t> and </a:t>
            </a:r>
            <a:r>
              <a:rPr lang="en-US" sz="1600" i="1" dirty="0">
                <a:solidFill>
                  <a:srgbClr val="3D4A5C"/>
                </a:solidFill>
                <a:latin typeface="Hind Siliguri" pitchFamily="34" charset="0"/>
                <a:ea typeface="Hind Siliguri" pitchFamily="34" charset="-122"/>
                <a:cs typeface="Hind Siliguri" pitchFamily="34" charset="-120"/>
              </a:rPr>
              <a:t>how</a:t>
            </a:r>
            <a:r>
              <a:rPr lang="en-US" sz="1600" dirty="0">
                <a:solidFill>
                  <a:srgbClr val="3D4A5C"/>
                </a:solidFill>
                <a:latin typeface="Hind Siliguri" pitchFamily="34" charset="0"/>
                <a:ea typeface="Hind Siliguri" pitchFamily="34" charset="-122"/>
                <a:cs typeface="Hind Siliguri" pitchFamily="34" charset="-120"/>
              </a:rPr>
              <a:t> to run it.</a:t>
            </a:r>
            <a:endParaRPr lang="en-US" sz="1600" dirty="0"/>
          </a:p>
        </p:txBody>
      </p:sp>
      <p:sp>
        <p:nvSpPr>
          <p:cNvPr id="4" name="Shape 2"/>
          <p:cNvSpPr/>
          <p:nvPr/>
        </p:nvSpPr>
        <p:spPr>
          <a:xfrm>
            <a:off x="815942" y="2357581"/>
            <a:ext cx="2520972" cy="1485073"/>
          </a:xfrm>
          <a:prstGeom prst="roundRect">
            <a:avLst>
              <a:gd name="adj" fmla="val 6628"/>
            </a:avLst>
          </a:prstGeom>
          <a:solidFill>
            <a:srgbClr val="FFFFFF"/>
          </a:solidFill>
          <a:ln w="6350">
            <a:solidFill>
              <a:srgbClr val="DCDDD5"/>
            </a:solidFill>
            <a:prstDash val="solid"/>
          </a:ln>
        </p:spPr>
      </p:sp>
      <p:pic>
        <p:nvPicPr>
          <p:cNvPr id="5" name="Image 0" descr="Play">    </p:cNvPr>
          <p:cNvPicPr>
            <a:picLocks noChangeAspect="1"/>
          </p:cNvPicPr>
          <p:nvPr/>
        </p:nvPicPr>
        <p:blipFill>
          <a:blip r:embed="rId1"/>
          <a:srcRect l="0" r="0" t="0" b="0"/>
          <a:stretch/>
        </p:blipFill>
        <p:spPr>
          <a:xfrm>
            <a:off x="994062" y="2535701"/>
            <a:ext cx="279356" cy="279356"/>
          </a:xfrm>
          <a:prstGeom prst="rect">
            <a:avLst/>
          </a:prstGeom>
        </p:spPr>
      </p:pic>
      <p:sp>
        <p:nvSpPr>
          <p:cNvPr id="6" name="Text 3"/>
          <p:cNvSpPr/>
          <p:nvPr/>
        </p:nvSpPr>
        <p:spPr>
          <a:xfrm>
            <a:off x="994062" y="2878557"/>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Runs</a:t>
            </a:r>
            <a:endParaRPr lang="en-US" sz="1600" dirty="0"/>
          </a:p>
        </p:txBody>
      </p:sp>
      <p:sp>
        <p:nvSpPr>
          <p:cNvPr id="7" name="Text 4"/>
          <p:cNvSpPr/>
          <p:nvPr/>
        </p:nvSpPr>
        <p:spPr>
          <a:xfrm>
            <a:off x="994062" y="3185860"/>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Decides which container goes on which server</a:t>
            </a:r>
            <a:endParaRPr lang="en-US" sz="1300" dirty="0"/>
          </a:p>
        </p:txBody>
      </p:sp>
      <p:sp>
        <p:nvSpPr>
          <p:cNvPr id="8" name="Shape 5"/>
          <p:cNvSpPr/>
          <p:nvPr/>
        </p:nvSpPr>
        <p:spPr>
          <a:xfrm>
            <a:off x="3495620" y="2357581"/>
            <a:ext cx="2521027" cy="1485073"/>
          </a:xfrm>
          <a:prstGeom prst="roundRect">
            <a:avLst>
              <a:gd name="adj" fmla="val 6628"/>
            </a:avLst>
          </a:prstGeom>
          <a:solidFill>
            <a:srgbClr val="FFFFFF"/>
          </a:solidFill>
          <a:ln w="6350">
            <a:solidFill>
              <a:srgbClr val="DCDDD5"/>
            </a:solidFill>
            <a:prstDash val="solid"/>
          </a:ln>
        </p:spPr>
      </p:sp>
      <p:pic>
        <p:nvPicPr>
          <p:cNvPr id="9" name="Image 1" descr="Search">    </p:cNvPr>
          <p:cNvPicPr>
            <a:picLocks noChangeAspect="1"/>
          </p:cNvPicPr>
          <p:nvPr/>
        </p:nvPicPr>
        <p:blipFill>
          <a:blip r:embed="rId2"/>
          <a:srcRect l="0" r="0" t="0" b="0"/>
          <a:stretch/>
        </p:blipFill>
        <p:spPr>
          <a:xfrm>
            <a:off x="3673740" y="2535701"/>
            <a:ext cx="279356" cy="279356"/>
          </a:xfrm>
          <a:prstGeom prst="rect">
            <a:avLst/>
          </a:prstGeom>
        </p:spPr>
      </p:pic>
      <p:sp>
        <p:nvSpPr>
          <p:cNvPr id="10" name="Text 6"/>
          <p:cNvSpPr/>
          <p:nvPr/>
        </p:nvSpPr>
        <p:spPr>
          <a:xfrm>
            <a:off x="3673740" y="2878557"/>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Watches</a:t>
            </a:r>
            <a:endParaRPr lang="en-US" sz="1600" dirty="0"/>
          </a:p>
        </p:txBody>
      </p:sp>
      <p:sp>
        <p:nvSpPr>
          <p:cNvPr id="11" name="Text 7"/>
          <p:cNvSpPr/>
          <p:nvPr/>
        </p:nvSpPr>
        <p:spPr>
          <a:xfrm>
            <a:off x="3673740" y="318586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Checks all the time that every container is healthy</a:t>
            </a:r>
            <a:endParaRPr lang="en-US" sz="1300" dirty="0"/>
          </a:p>
        </p:txBody>
      </p:sp>
      <p:sp>
        <p:nvSpPr>
          <p:cNvPr id="12" name="Shape 8"/>
          <p:cNvSpPr/>
          <p:nvPr/>
        </p:nvSpPr>
        <p:spPr>
          <a:xfrm>
            <a:off x="6175353" y="2357581"/>
            <a:ext cx="2520972" cy="1485073"/>
          </a:xfrm>
          <a:prstGeom prst="roundRect">
            <a:avLst>
              <a:gd name="adj" fmla="val 6628"/>
            </a:avLst>
          </a:prstGeom>
          <a:solidFill>
            <a:srgbClr val="FFFFFF"/>
          </a:solidFill>
          <a:ln w="6350">
            <a:solidFill>
              <a:srgbClr val="DCDDD5"/>
            </a:solidFill>
            <a:prstDash val="solid"/>
          </a:ln>
        </p:spPr>
      </p:sp>
      <p:pic>
        <p:nvPicPr>
          <p:cNvPr id="13" name="Image 2" descr="Wrench">    </p:cNvPr>
          <p:cNvPicPr>
            <a:picLocks noChangeAspect="1"/>
          </p:cNvPicPr>
          <p:nvPr/>
        </p:nvPicPr>
        <p:blipFill>
          <a:blip r:embed="rId3"/>
          <a:srcRect l="0" r="0" t="0" b="0"/>
          <a:stretch/>
        </p:blipFill>
        <p:spPr>
          <a:xfrm>
            <a:off x="6353473" y="2535701"/>
            <a:ext cx="279356" cy="279356"/>
          </a:xfrm>
          <a:prstGeom prst="rect">
            <a:avLst/>
          </a:prstGeom>
        </p:spPr>
      </p:pic>
      <p:sp>
        <p:nvSpPr>
          <p:cNvPr id="14" name="Text 9"/>
          <p:cNvSpPr/>
          <p:nvPr/>
        </p:nvSpPr>
        <p:spPr>
          <a:xfrm>
            <a:off x="6353473" y="2878557"/>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Self-heals</a:t>
            </a:r>
            <a:endParaRPr lang="en-US" sz="1600" dirty="0"/>
          </a:p>
        </p:txBody>
      </p:sp>
      <p:sp>
        <p:nvSpPr>
          <p:cNvPr id="15" name="Text 10"/>
          <p:cNvSpPr/>
          <p:nvPr/>
        </p:nvSpPr>
        <p:spPr>
          <a:xfrm>
            <a:off x="6353473" y="3185860"/>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Restarts crashes; moves work off a dead server</a:t>
            </a:r>
            <a:endParaRPr lang="en-US" sz="1300" dirty="0"/>
          </a:p>
        </p:txBody>
      </p:sp>
      <p:sp>
        <p:nvSpPr>
          <p:cNvPr id="16" name="Shape 11"/>
          <p:cNvSpPr/>
          <p:nvPr/>
        </p:nvSpPr>
        <p:spPr>
          <a:xfrm>
            <a:off x="8855032" y="2357581"/>
            <a:ext cx="2521027" cy="1485073"/>
          </a:xfrm>
          <a:prstGeom prst="roundRect">
            <a:avLst>
              <a:gd name="adj" fmla="val 6628"/>
            </a:avLst>
          </a:prstGeom>
          <a:solidFill>
            <a:srgbClr val="FFFFFF"/>
          </a:solidFill>
          <a:ln w="6350">
            <a:solidFill>
              <a:srgbClr val="DCDDD5"/>
            </a:solidFill>
            <a:prstDash val="solid"/>
          </a:ln>
        </p:spPr>
      </p:sp>
      <p:pic>
        <p:nvPicPr>
          <p:cNvPr id="17" name="Image 3" descr="Chart">    </p:cNvPr>
          <p:cNvPicPr>
            <a:picLocks noChangeAspect="1"/>
          </p:cNvPicPr>
          <p:nvPr/>
        </p:nvPicPr>
        <p:blipFill>
          <a:blip r:embed="rId4"/>
          <a:srcRect l="0" r="0" t="0" b="0"/>
          <a:stretch/>
        </p:blipFill>
        <p:spPr>
          <a:xfrm>
            <a:off x="9033151" y="2535701"/>
            <a:ext cx="279356" cy="279356"/>
          </a:xfrm>
          <a:prstGeom prst="rect">
            <a:avLst/>
          </a:prstGeom>
        </p:spPr>
      </p:pic>
      <p:sp>
        <p:nvSpPr>
          <p:cNvPr id="18" name="Text 12"/>
          <p:cNvSpPr/>
          <p:nvPr/>
        </p:nvSpPr>
        <p:spPr>
          <a:xfrm>
            <a:off x="9033151" y="2878557"/>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Scales</a:t>
            </a:r>
            <a:endParaRPr lang="en-US" sz="1600" dirty="0"/>
          </a:p>
        </p:txBody>
      </p:sp>
      <p:sp>
        <p:nvSpPr>
          <p:cNvPr id="19" name="Text 13"/>
          <p:cNvSpPr/>
          <p:nvPr/>
        </p:nvSpPr>
        <p:spPr>
          <a:xfrm>
            <a:off x="9033151" y="318586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Adds copies when load rises, removes them when it drops</a:t>
            </a:r>
            <a:endParaRPr lang="en-US" sz="1300" dirty="0"/>
          </a:p>
        </p:txBody>
      </p:sp>
      <p:sp>
        <p:nvSpPr>
          <p:cNvPr id="20" name="Shape 14"/>
          <p:cNvSpPr/>
          <p:nvPr/>
        </p:nvSpPr>
        <p:spPr>
          <a:xfrm>
            <a:off x="815942" y="4052182"/>
            <a:ext cx="3230276" cy="788006"/>
          </a:xfrm>
          <a:prstGeom prst="roundRect">
            <a:avLst>
              <a:gd name="adj" fmla="val 12490"/>
            </a:avLst>
          </a:prstGeom>
          <a:solidFill>
            <a:srgbClr val="FFFFFF"/>
          </a:solidFill>
          <a:ln w="6350">
            <a:solidFill>
              <a:srgbClr val="DCDDD5"/>
            </a:solidFill>
            <a:prstDash val="solid"/>
          </a:ln>
        </p:spPr>
      </p:sp>
      <p:sp>
        <p:nvSpPr>
          <p:cNvPr id="21" name="Text 15"/>
          <p:cNvSpPr/>
          <p:nvPr/>
        </p:nvSpPr>
        <p:spPr>
          <a:xfrm>
            <a:off x="968651" y="4204891"/>
            <a:ext cx="301260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Desired state</a:t>
            </a:r>
            <a:endParaRPr lang="en-US" sz="1200" dirty="0"/>
          </a:p>
        </p:txBody>
      </p:sp>
      <p:sp>
        <p:nvSpPr>
          <p:cNvPr id="22" name="Text 16"/>
          <p:cNvSpPr/>
          <p:nvPr/>
        </p:nvSpPr>
        <p:spPr>
          <a:xfrm>
            <a:off x="968651" y="4456356"/>
            <a:ext cx="3012604"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Hind Siliguri" pitchFamily="34" charset="0"/>
                <a:ea typeface="Hind Siliguri" pitchFamily="34" charset="-122"/>
                <a:cs typeface="Hind Siliguri" pitchFamily="34" charset="-120"/>
              </a:rPr>
              <a:t>Written in YAML: "3 api Pods"</a:t>
            </a:r>
            <a:endParaRPr lang="en-US" sz="1300" dirty="0"/>
          </a:p>
        </p:txBody>
      </p:sp>
      <p:pic>
        <p:nvPicPr>
          <p:cNvPr id="23" name="Image 4" descr="arrow-right">    </p:cNvPr>
          <p:cNvPicPr>
            <a:picLocks noChangeAspect="1"/>
          </p:cNvPicPr>
          <p:nvPr/>
        </p:nvPicPr>
        <p:blipFill>
          <a:blip r:embed="rId5"/>
          <a:srcRect l="-12" r="-12" t="0" b="0"/>
          <a:stretch/>
        </p:blipFill>
        <p:spPr>
          <a:xfrm>
            <a:off x="4150982" y="4389052"/>
            <a:ext cx="228589" cy="114267"/>
          </a:xfrm>
          <a:prstGeom prst="rect">
            <a:avLst/>
          </a:prstGeom>
        </p:spPr>
      </p:pic>
      <p:sp>
        <p:nvSpPr>
          <p:cNvPr id="24" name="Shape 17"/>
          <p:cNvSpPr/>
          <p:nvPr/>
        </p:nvSpPr>
        <p:spPr>
          <a:xfrm>
            <a:off x="4481160" y="4049007"/>
            <a:ext cx="3229626" cy="794356"/>
          </a:xfrm>
          <a:prstGeom prst="roundRect">
            <a:avLst>
              <a:gd name="adj" fmla="val 12790"/>
            </a:avLst>
          </a:prstGeom>
          <a:solidFill>
            <a:srgbClr val="2456C2"/>
          </a:solidFill>
          <a:ln/>
        </p:spPr>
      </p:sp>
      <p:sp>
        <p:nvSpPr>
          <p:cNvPr id="25" name="Text 18"/>
          <p:cNvSpPr/>
          <p:nvPr/>
        </p:nvSpPr>
        <p:spPr>
          <a:xfrm>
            <a:off x="4633516" y="4201364"/>
            <a:ext cx="3012661"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6FA"/>
                </a:solidFill>
                <a:latin typeface="Hind Siliguri" pitchFamily="34" charset="0"/>
                <a:ea typeface="Hind Siliguri" pitchFamily="34" charset="-122"/>
                <a:cs typeface="Hind Siliguri" pitchFamily="34" charset="-120"/>
              </a:rPr>
              <a:t>Reconciliation</a:t>
            </a:r>
            <a:endParaRPr lang="en-US" sz="1200" dirty="0"/>
          </a:p>
        </p:txBody>
      </p:sp>
      <p:sp>
        <p:nvSpPr>
          <p:cNvPr id="26" name="Text 19"/>
          <p:cNvSpPr/>
          <p:nvPr/>
        </p:nvSpPr>
        <p:spPr>
          <a:xfrm>
            <a:off x="4633516" y="4452827"/>
            <a:ext cx="3012661"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Hind Siliguri" pitchFamily="34" charset="0"/>
                <a:ea typeface="Hind Siliguri" pitchFamily="34" charset="-122"/>
                <a:cs typeface="Hind Siliguri" pitchFamily="34" charset="-120"/>
              </a:rPr>
              <a:t>Compares the two, all the time</a:t>
            </a:r>
            <a:endParaRPr lang="en-US" sz="1300" dirty="0"/>
          </a:p>
        </p:txBody>
      </p:sp>
      <p:pic>
        <p:nvPicPr>
          <p:cNvPr id="27" name="Image 5" descr="arrow-right">    </p:cNvPr>
          <p:cNvPicPr>
            <a:picLocks noChangeAspect="1"/>
          </p:cNvPicPr>
          <p:nvPr/>
        </p:nvPicPr>
        <p:blipFill>
          <a:blip r:embed="rId6"/>
          <a:srcRect l="-12" r="-12" t="0" b="0"/>
          <a:stretch/>
        </p:blipFill>
        <p:spPr>
          <a:xfrm>
            <a:off x="7812374" y="4389052"/>
            <a:ext cx="228589" cy="114267"/>
          </a:xfrm>
          <a:prstGeom prst="rect">
            <a:avLst/>
          </a:prstGeom>
        </p:spPr>
      </p:pic>
      <p:sp>
        <p:nvSpPr>
          <p:cNvPr id="28" name="Shape 20"/>
          <p:cNvSpPr/>
          <p:nvPr/>
        </p:nvSpPr>
        <p:spPr>
          <a:xfrm>
            <a:off x="8145728" y="4052182"/>
            <a:ext cx="3230331" cy="788006"/>
          </a:xfrm>
          <a:prstGeom prst="roundRect">
            <a:avLst>
              <a:gd name="adj" fmla="val 12490"/>
            </a:avLst>
          </a:prstGeom>
          <a:solidFill>
            <a:srgbClr val="FFFFFF"/>
          </a:solidFill>
          <a:ln w="6350">
            <a:solidFill>
              <a:srgbClr val="DCDDD5"/>
            </a:solidFill>
            <a:prstDash val="solid"/>
          </a:ln>
        </p:spPr>
      </p:sp>
      <p:sp>
        <p:nvSpPr>
          <p:cNvPr id="29" name="Text 21"/>
          <p:cNvSpPr/>
          <p:nvPr/>
        </p:nvSpPr>
        <p:spPr>
          <a:xfrm>
            <a:off x="8298436" y="4204891"/>
            <a:ext cx="3012661"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Actual state</a:t>
            </a:r>
            <a:endParaRPr lang="en-US" sz="1200" dirty="0"/>
          </a:p>
        </p:txBody>
      </p:sp>
      <p:sp>
        <p:nvSpPr>
          <p:cNvPr id="30" name="Text 22"/>
          <p:cNvSpPr/>
          <p:nvPr/>
        </p:nvSpPr>
        <p:spPr>
          <a:xfrm>
            <a:off x="8298436" y="4456356"/>
            <a:ext cx="3012661"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Hind Siliguri" pitchFamily="34" charset="0"/>
                <a:ea typeface="Hind Siliguri" pitchFamily="34" charset="-122"/>
                <a:cs typeface="Hind Siliguri" pitchFamily="34" charset="-120"/>
              </a:rPr>
              <a:t>2 running → it creates 1 more</a:t>
            </a:r>
            <a:endParaRPr lang="en-US" sz="1300" dirty="0"/>
          </a:p>
        </p:txBody>
      </p:sp>
      <p:sp>
        <p:nvSpPr>
          <p:cNvPr id="31" name="Text 23"/>
          <p:cNvSpPr/>
          <p:nvPr/>
        </p:nvSpPr>
        <p:spPr>
          <a:xfrm>
            <a:off x="812767" y="5046542"/>
            <a:ext cx="10883461" cy="273006"/>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4213D"/>
                </a:solidFill>
                <a:latin typeface="Hind Siliguri" pitchFamily="34" charset="0"/>
                <a:ea typeface="Hind Siliguri" pitchFamily="34" charset="-122"/>
                <a:cs typeface="Hind Siliguri" pitchFamily="34" charset="-120"/>
              </a:rPr>
              <a:t>What it is not:</a:t>
            </a:r>
            <a:r>
              <a:rPr lang="en-US" sz="1300" dirty="0">
                <a:solidFill>
                  <a:srgbClr val="3D4A5C"/>
                </a:solidFill>
                <a:latin typeface="Hind Siliguri" pitchFamily="34" charset="0"/>
                <a:ea typeface="Hind Siliguri" pitchFamily="34" charset="-122"/>
                <a:cs typeface="Hind Siliguri" pitchFamily="34" charset="-120"/>
              </a:rPr>
              <a:t> it does not build your code, back up your database, or act as a PaaS — it runs and manages containers.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The problems Kubernetes solves</a:t>
            </a:r>
            <a:endParaRPr lang="en-US" sz="3600" dirty="0"/>
          </a:p>
        </p:txBody>
      </p:sp>
      <p:sp>
        <p:nvSpPr>
          <p:cNvPr id="3" name="Text 1"/>
          <p:cNvSpPr/>
          <p:nvPr/>
        </p:nvSpPr>
        <p:spPr>
          <a:xfrm>
            <a:off x="812767" y="1592517"/>
            <a:ext cx="9810751"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D4A5C"/>
                </a:solidFill>
                <a:latin typeface="Hind Siliguri" pitchFamily="34" charset="0"/>
                <a:ea typeface="Hind Siliguri" pitchFamily="34" charset="-122"/>
                <a:cs typeface="Hind Siliguri" pitchFamily="34" charset="-120"/>
              </a:rPr>
              <a:t>Running one app on one server is easy. The trouble starts with </a:t>
            </a:r>
            <a:r>
              <a:rPr lang="en-US" sz="1600" b="1" dirty="0">
                <a:solidFill>
                  <a:srgbClr val="3D4A5C"/>
                </a:solidFill>
                <a:latin typeface="Hind Siliguri" pitchFamily="34" charset="0"/>
                <a:ea typeface="Hind Siliguri" pitchFamily="34" charset="-122"/>
                <a:cs typeface="Hind Siliguri" pitchFamily="34" charset="-120"/>
              </a:rPr>
              <a:t>many apps, many servers</a:t>
            </a:r>
            <a:r>
              <a:rPr lang="en-US" sz="1600" dirty="0">
                <a:solidFill>
                  <a:srgbClr val="3D4A5C"/>
                </a:solidFill>
                <a:latin typeface="Hind Siliguri" pitchFamily="34" charset="0"/>
                <a:ea typeface="Hind Siliguri" pitchFamily="34" charset="-122"/>
                <a:cs typeface="Hind Siliguri" pitchFamily="34" charset="-120"/>
              </a:rPr>
              <a:t>, and something breaking at 3 a.m.</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2466633"/>
          <a:ext cx="10555773" cy="2623344"/>
        </p:xfrm>
        <a:graphic>
          <a:graphicData uri="http://schemas.openxmlformats.org/drawingml/2006/table">
            <a:tbl>
              <a:tblPr/>
              <a:tblGrid>
                <a:gridCol w="2744501"/>
                <a:gridCol w="3905636"/>
                <a:gridCol w="3905636"/>
              </a:tblGrid>
              <a:tr h="437224">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Situation</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Without Kubernetes</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With Kubernetes</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App crashes</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Someone sees an alert, restarts by hand</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Restarts itself — self-healing</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A server dies</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Every app on that server goes down</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New copies start on another server</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Traffic spikes</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Add servers and copies by hand</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Adds copies itself — autoscaling</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New version deploy</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Stop, then start — downtime in between</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Swaps copies one by one — rolling update</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Bug in new version</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Find the old build and redeploy</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One command to rollback</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Kubernetes in 8 words</a:t>
            </a:r>
            <a:endParaRPr lang="en-US" sz="3600" dirty="0"/>
          </a:p>
        </p:txBody>
      </p:sp>
      <p:sp>
        <p:nvSpPr>
          <p:cNvPr id="3" name="Shape 1"/>
          <p:cNvSpPr/>
          <p:nvPr/>
        </p:nvSpPr>
        <p:spPr>
          <a:xfrm>
            <a:off x="815942" y="1595690"/>
            <a:ext cx="2520972" cy="1632964"/>
          </a:xfrm>
          <a:prstGeom prst="roundRect">
            <a:avLst>
              <a:gd name="adj" fmla="val 6027"/>
            </a:avLst>
          </a:prstGeom>
          <a:solidFill>
            <a:srgbClr val="FFFFFF"/>
          </a:solidFill>
          <a:ln w="6350">
            <a:solidFill>
              <a:srgbClr val="DCDDD5"/>
            </a:solidFill>
            <a:prstDash val="solid"/>
          </a:ln>
        </p:spPr>
      </p:sp>
      <p:sp>
        <p:nvSpPr>
          <p:cNvPr id="4" name="Text 2"/>
          <p:cNvSpPr/>
          <p:nvPr/>
        </p:nvSpPr>
        <p:spPr>
          <a:xfrm>
            <a:off x="994062" y="177381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Container</a:t>
            </a:r>
            <a:endParaRPr lang="en-US" sz="1600" dirty="0"/>
          </a:p>
        </p:txBody>
      </p:sp>
      <p:sp>
        <p:nvSpPr>
          <p:cNvPr id="5" name="Text 3"/>
          <p:cNvSpPr/>
          <p:nvPr/>
        </p:nvSpPr>
        <p:spPr>
          <a:xfrm>
            <a:off x="994062" y="2068379"/>
            <a:ext cx="2229675" cy="7434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An app packed with everything it needs, running isolated</a:t>
            </a:r>
            <a:endParaRPr lang="en-US" sz="1300" dirty="0"/>
          </a:p>
        </p:txBody>
      </p:sp>
      <p:sp>
        <p:nvSpPr>
          <p:cNvPr id="6" name="Text 4"/>
          <p:cNvSpPr/>
          <p:nvPr/>
        </p:nvSpPr>
        <p:spPr>
          <a:xfrm>
            <a:off x="994062" y="2837160"/>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Node.js API</a:t>
            </a:r>
            <a:endParaRPr lang="en-US" sz="1200" dirty="0"/>
          </a:p>
        </p:txBody>
      </p:sp>
      <p:sp>
        <p:nvSpPr>
          <p:cNvPr id="7" name="Shape 5"/>
          <p:cNvSpPr/>
          <p:nvPr/>
        </p:nvSpPr>
        <p:spPr>
          <a:xfrm>
            <a:off x="3495620" y="1595690"/>
            <a:ext cx="2521027" cy="1632964"/>
          </a:xfrm>
          <a:prstGeom prst="roundRect">
            <a:avLst>
              <a:gd name="adj" fmla="val 6027"/>
            </a:avLst>
          </a:prstGeom>
          <a:solidFill>
            <a:srgbClr val="FFFFFF"/>
          </a:solidFill>
          <a:ln w="6350">
            <a:solidFill>
              <a:srgbClr val="DCDDD5"/>
            </a:solidFill>
            <a:prstDash val="solid"/>
          </a:ln>
        </p:spPr>
      </p:sp>
      <p:sp>
        <p:nvSpPr>
          <p:cNvPr id="8" name="Text 6"/>
          <p:cNvSpPr/>
          <p:nvPr/>
        </p:nvSpPr>
        <p:spPr>
          <a:xfrm>
            <a:off x="3673740" y="177381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Image</a:t>
            </a:r>
            <a:endParaRPr lang="en-US" sz="1600" dirty="0"/>
          </a:p>
        </p:txBody>
      </p:sp>
      <p:sp>
        <p:nvSpPr>
          <p:cNvPr id="9" name="Text 7"/>
          <p:cNvSpPr/>
          <p:nvPr/>
        </p:nvSpPr>
        <p:spPr>
          <a:xfrm>
            <a:off x="3673740" y="2068379"/>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The container's template — build once, run many times</a:t>
            </a:r>
            <a:endParaRPr lang="en-US" sz="1300" dirty="0"/>
          </a:p>
        </p:txBody>
      </p:sp>
      <p:sp>
        <p:nvSpPr>
          <p:cNvPr id="10" name="Text 8"/>
          <p:cNvSpPr/>
          <p:nvPr/>
        </p:nvSpPr>
        <p:spPr>
          <a:xfrm>
            <a:off x="3673740" y="2597821"/>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subtrack-api:1.0</a:t>
            </a:r>
            <a:endParaRPr lang="en-US" sz="1200" dirty="0"/>
          </a:p>
        </p:txBody>
      </p:sp>
      <p:sp>
        <p:nvSpPr>
          <p:cNvPr id="11" name="Shape 9"/>
          <p:cNvSpPr/>
          <p:nvPr/>
        </p:nvSpPr>
        <p:spPr>
          <a:xfrm>
            <a:off x="6175353" y="1595690"/>
            <a:ext cx="2520972" cy="1632964"/>
          </a:xfrm>
          <a:prstGeom prst="roundRect">
            <a:avLst>
              <a:gd name="adj" fmla="val 6027"/>
            </a:avLst>
          </a:prstGeom>
          <a:solidFill>
            <a:srgbClr val="FFFFFF"/>
          </a:solidFill>
          <a:ln w="6350">
            <a:solidFill>
              <a:srgbClr val="DCDDD5"/>
            </a:solidFill>
            <a:prstDash val="solid"/>
          </a:ln>
        </p:spPr>
      </p:sp>
      <p:sp>
        <p:nvSpPr>
          <p:cNvPr id="12" name="Text 10"/>
          <p:cNvSpPr/>
          <p:nvPr/>
        </p:nvSpPr>
        <p:spPr>
          <a:xfrm>
            <a:off x="6353473" y="177381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Node</a:t>
            </a:r>
            <a:endParaRPr lang="en-US" sz="1600" dirty="0"/>
          </a:p>
        </p:txBody>
      </p:sp>
      <p:sp>
        <p:nvSpPr>
          <p:cNvPr id="13" name="Text 11"/>
          <p:cNvSpPr/>
          <p:nvPr/>
        </p:nvSpPr>
        <p:spPr>
          <a:xfrm>
            <a:off x="6353473" y="2068379"/>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One machine (server or VM) where containers run</a:t>
            </a:r>
            <a:endParaRPr lang="en-US" sz="1300" dirty="0"/>
          </a:p>
        </p:txBody>
      </p:sp>
      <p:sp>
        <p:nvSpPr>
          <p:cNvPr id="14" name="Text 12"/>
          <p:cNvSpPr/>
          <p:nvPr/>
        </p:nvSpPr>
        <p:spPr>
          <a:xfrm>
            <a:off x="6353473" y="2597821"/>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worker-1</a:t>
            </a:r>
            <a:endParaRPr lang="en-US" sz="1200" dirty="0"/>
          </a:p>
        </p:txBody>
      </p:sp>
      <p:sp>
        <p:nvSpPr>
          <p:cNvPr id="15" name="Shape 13"/>
          <p:cNvSpPr/>
          <p:nvPr/>
        </p:nvSpPr>
        <p:spPr>
          <a:xfrm>
            <a:off x="8855032" y="1595690"/>
            <a:ext cx="2521027" cy="1632964"/>
          </a:xfrm>
          <a:prstGeom prst="roundRect">
            <a:avLst>
              <a:gd name="adj" fmla="val 6027"/>
            </a:avLst>
          </a:prstGeom>
          <a:solidFill>
            <a:srgbClr val="FFFFFF"/>
          </a:solidFill>
          <a:ln w="6350">
            <a:solidFill>
              <a:srgbClr val="DCDDD5"/>
            </a:solidFill>
            <a:prstDash val="solid"/>
          </a:ln>
        </p:spPr>
      </p:sp>
      <p:sp>
        <p:nvSpPr>
          <p:cNvPr id="16" name="Text 14"/>
          <p:cNvSpPr/>
          <p:nvPr/>
        </p:nvSpPr>
        <p:spPr>
          <a:xfrm>
            <a:off x="9033151" y="177381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Cluster</a:t>
            </a:r>
            <a:endParaRPr lang="en-US" sz="1600" dirty="0"/>
          </a:p>
        </p:txBody>
      </p:sp>
      <p:sp>
        <p:nvSpPr>
          <p:cNvPr id="17" name="Text 15"/>
          <p:cNvSpPr/>
          <p:nvPr/>
        </p:nvSpPr>
        <p:spPr>
          <a:xfrm>
            <a:off x="9033151" y="2068379"/>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The control plane (the brain) plus all the nodes</a:t>
            </a:r>
            <a:endParaRPr lang="en-US" sz="1300" dirty="0"/>
          </a:p>
        </p:txBody>
      </p:sp>
      <p:sp>
        <p:nvSpPr>
          <p:cNvPr id="18" name="Text 16"/>
          <p:cNvSpPr/>
          <p:nvPr/>
        </p:nvSpPr>
        <p:spPr>
          <a:xfrm>
            <a:off x="9033151" y="2597821"/>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kind-subtrack-lab</a:t>
            </a:r>
            <a:endParaRPr lang="en-US" sz="1200" dirty="0"/>
          </a:p>
        </p:txBody>
      </p:sp>
      <p:sp>
        <p:nvSpPr>
          <p:cNvPr id="19" name="Shape 17"/>
          <p:cNvSpPr/>
          <p:nvPr/>
        </p:nvSpPr>
        <p:spPr>
          <a:xfrm>
            <a:off x="815942" y="3387361"/>
            <a:ext cx="2520972" cy="1632964"/>
          </a:xfrm>
          <a:prstGeom prst="roundRect">
            <a:avLst>
              <a:gd name="adj" fmla="val 6027"/>
            </a:avLst>
          </a:prstGeom>
          <a:solidFill>
            <a:srgbClr val="FFFFFF"/>
          </a:solidFill>
          <a:ln w="6350">
            <a:solidFill>
              <a:srgbClr val="DCDDD5"/>
            </a:solidFill>
            <a:prstDash val="solid"/>
          </a:ln>
        </p:spPr>
      </p:sp>
      <p:sp>
        <p:nvSpPr>
          <p:cNvPr id="20" name="Text 18"/>
          <p:cNvSpPr/>
          <p:nvPr/>
        </p:nvSpPr>
        <p:spPr>
          <a:xfrm>
            <a:off x="994062" y="356548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Pod</a:t>
            </a:r>
            <a:endParaRPr lang="en-US" sz="1600" dirty="0"/>
          </a:p>
        </p:txBody>
      </p:sp>
      <p:sp>
        <p:nvSpPr>
          <p:cNvPr id="21" name="Text 19"/>
          <p:cNvSpPr/>
          <p:nvPr/>
        </p:nvSpPr>
        <p:spPr>
          <a:xfrm>
            <a:off x="994062" y="3860050"/>
            <a:ext cx="2229675" cy="7434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The smallest unit — a wrapper around containers, with its own IP</a:t>
            </a:r>
            <a:endParaRPr lang="en-US" sz="1300" dirty="0"/>
          </a:p>
        </p:txBody>
      </p:sp>
      <p:sp>
        <p:nvSpPr>
          <p:cNvPr id="22" name="Text 20"/>
          <p:cNvSpPr/>
          <p:nvPr/>
        </p:nvSpPr>
        <p:spPr>
          <a:xfrm>
            <a:off x="994062" y="4628831"/>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one copy of api</a:t>
            </a:r>
            <a:endParaRPr lang="en-US" sz="1200" dirty="0"/>
          </a:p>
        </p:txBody>
      </p:sp>
      <p:sp>
        <p:nvSpPr>
          <p:cNvPr id="23" name="Shape 21"/>
          <p:cNvSpPr/>
          <p:nvPr/>
        </p:nvSpPr>
        <p:spPr>
          <a:xfrm>
            <a:off x="3495620" y="3387361"/>
            <a:ext cx="2521027" cy="1632964"/>
          </a:xfrm>
          <a:prstGeom prst="roundRect">
            <a:avLst>
              <a:gd name="adj" fmla="val 6027"/>
            </a:avLst>
          </a:prstGeom>
          <a:solidFill>
            <a:srgbClr val="FFFFFF"/>
          </a:solidFill>
          <a:ln w="6350">
            <a:solidFill>
              <a:srgbClr val="DCDDD5"/>
            </a:solidFill>
            <a:prstDash val="solid"/>
          </a:ln>
        </p:spPr>
      </p:sp>
      <p:sp>
        <p:nvSpPr>
          <p:cNvPr id="24" name="Text 22"/>
          <p:cNvSpPr/>
          <p:nvPr/>
        </p:nvSpPr>
        <p:spPr>
          <a:xfrm>
            <a:off x="3673740" y="356548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Deployment</a:t>
            </a:r>
            <a:endParaRPr lang="en-US" sz="1600" dirty="0"/>
          </a:p>
        </p:txBody>
      </p:sp>
      <p:sp>
        <p:nvSpPr>
          <p:cNvPr id="25" name="Text 23"/>
          <p:cNvSpPr/>
          <p:nvPr/>
        </p:nvSpPr>
        <p:spPr>
          <a:xfrm>
            <a:off x="3673740" y="386005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"Keep N copies running; change versions safely"</a:t>
            </a:r>
            <a:endParaRPr lang="en-US" sz="1300" dirty="0"/>
          </a:p>
        </p:txBody>
      </p:sp>
      <p:sp>
        <p:nvSpPr>
          <p:cNvPr id="26" name="Text 24"/>
          <p:cNvSpPr/>
          <p:nvPr/>
        </p:nvSpPr>
        <p:spPr>
          <a:xfrm>
            <a:off x="3673740" y="4389492"/>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replicas: 3</a:t>
            </a:r>
            <a:endParaRPr lang="en-US" sz="1200" dirty="0"/>
          </a:p>
        </p:txBody>
      </p:sp>
      <p:sp>
        <p:nvSpPr>
          <p:cNvPr id="27" name="Shape 25"/>
          <p:cNvSpPr/>
          <p:nvPr/>
        </p:nvSpPr>
        <p:spPr>
          <a:xfrm>
            <a:off x="6175353" y="3387361"/>
            <a:ext cx="2520972" cy="1632964"/>
          </a:xfrm>
          <a:prstGeom prst="roundRect">
            <a:avLst>
              <a:gd name="adj" fmla="val 6027"/>
            </a:avLst>
          </a:prstGeom>
          <a:solidFill>
            <a:srgbClr val="FFFFFF"/>
          </a:solidFill>
          <a:ln w="6350">
            <a:solidFill>
              <a:srgbClr val="DCDDD5"/>
            </a:solidFill>
            <a:prstDash val="solid"/>
          </a:ln>
        </p:spPr>
      </p:sp>
      <p:sp>
        <p:nvSpPr>
          <p:cNvPr id="28" name="Text 26"/>
          <p:cNvSpPr/>
          <p:nvPr/>
        </p:nvSpPr>
        <p:spPr>
          <a:xfrm>
            <a:off x="6353473" y="356548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Service</a:t>
            </a:r>
            <a:endParaRPr lang="en-US" sz="1600" dirty="0"/>
          </a:p>
        </p:txBody>
      </p:sp>
      <p:sp>
        <p:nvSpPr>
          <p:cNvPr id="29" name="Text 27"/>
          <p:cNvSpPr/>
          <p:nvPr/>
        </p:nvSpPr>
        <p:spPr>
          <a:xfrm>
            <a:off x="6353473" y="3860050"/>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A stable name and address, even as Pods change</a:t>
            </a:r>
            <a:endParaRPr lang="en-US" sz="1300" dirty="0"/>
          </a:p>
        </p:txBody>
      </p:sp>
      <p:sp>
        <p:nvSpPr>
          <p:cNvPr id="30" name="Text 28"/>
          <p:cNvSpPr/>
          <p:nvPr/>
        </p:nvSpPr>
        <p:spPr>
          <a:xfrm>
            <a:off x="6353473" y="4389492"/>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http://api</a:t>
            </a:r>
            <a:endParaRPr lang="en-US" sz="1200" dirty="0"/>
          </a:p>
        </p:txBody>
      </p:sp>
      <p:sp>
        <p:nvSpPr>
          <p:cNvPr id="31" name="Shape 29"/>
          <p:cNvSpPr/>
          <p:nvPr/>
        </p:nvSpPr>
        <p:spPr>
          <a:xfrm>
            <a:off x="8855032" y="3387361"/>
            <a:ext cx="2521027" cy="1632964"/>
          </a:xfrm>
          <a:prstGeom prst="roundRect">
            <a:avLst>
              <a:gd name="adj" fmla="val 6027"/>
            </a:avLst>
          </a:prstGeom>
          <a:solidFill>
            <a:srgbClr val="FFFFFF"/>
          </a:solidFill>
          <a:ln w="6350">
            <a:solidFill>
              <a:srgbClr val="DCDDD5"/>
            </a:solidFill>
            <a:prstDash val="solid"/>
          </a:ln>
        </p:spPr>
      </p:sp>
      <p:sp>
        <p:nvSpPr>
          <p:cNvPr id="32" name="Text 30"/>
          <p:cNvSpPr/>
          <p:nvPr/>
        </p:nvSpPr>
        <p:spPr>
          <a:xfrm>
            <a:off x="9033151" y="356548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Namespace</a:t>
            </a:r>
            <a:endParaRPr lang="en-US" sz="1600" dirty="0"/>
          </a:p>
        </p:txBody>
      </p:sp>
      <p:sp>
        <p:nvSpPr>
          <p:cNvPr id="33" name="Text 31"/>
          <p:cNvSpPr/>
          <p:nvPr/>
        </p:nvSpPr>
        <p:spPr>
          <a:xfrm>
            <a:off x="9033151" y="386005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Separate rooms inside one cluster — dev and prod apart</a:t>
            </a:r>
            <a:endParaRPr lang="en-US" sz="1300" dirty="0"/>
          </a:p>
        </p:txBody>
      </p:sp>
      <p:sp>
        <p:nvSpPr>
          <p:cNvPr id="34" name="Text 32"/>
          <p:cNvSpPr/>
          <p:nvPr/>
        </p:nvSpPr>
        <p:spPr>
          <a:xfrm>
            <a:off x="9033151" y="4389492"/>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subtrack-dev</a:t>
            </a:r>
            <a:endParaRPr lang="en-US" sz="1200" dirty="0"/>
          </a:p>
        </p:txBody>
      </p:sp>
      <p:sp>
        <p:nvSpPr>
          <p:cNvPr id="35" name="Text 33"/>
          <p:cNvSpPr/>
          <p:nvPr/>
        </p:nvSpPr>
        <p:spPr>
          <a:xfrm>
            <a:off x="812767" y="5277500"/>
            <a:ext cx="10883461" cy="29213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Hind Siliguri" pitchFamily="34" charset="0"/>
                <a:ea typeface="Hind Siliguri" pitchFamily="34" charset="-122"/>
                <a:cs typeface="Hind Siliguri" pitchFamily="34" charset="-120"/>
              </a:rPr>
              <a:t>Plus two tools: </a:t>
            </a:r>
            <a:r>
              <a:rPr lang="en-US" sz="1400" b="1" dirty="0">
                <a:solidFill>
                  <a:srgbClr val="3D4A5C"/>
                </a:solidFill>
                <a:latin typeface="Hind Siliguri" pitchFamily="34" charset="0"/>
                <a:ea typeface="Hind Siliguri" pitchFamily="34" charset="-122"/>
                <a:cs typeface="Hind Siliguri" pitchFamily="34" charset="-120"/>
              </a:rPr>
              <a:t>YAML</a:t>
            </a:r>
            <a:r>
              <a:rPr lang="en-US" sz="1400" dirty="0">
                <a:solidFill>
                  <a:srgbClr val="3D4A5C"/>
                </a:solidFill>
                <a:latin typeface="Hind Siliguri" pitchFamily="34" charset="0"/>
                <a:ea typeface="Hind Siliguri" pitchFamily="34" charset="-122"/>
                <a:cs typeface="Hind Siliguri" pitchFamily="34" charset="-120"/>
              </a:rPr>
              <a:t> — the file where you write what you want · </a:t>
            </a:r>
            <a:r>
              <a:rPr lang="en-US" sz="1400" b="1" dirty="0">
                <a:solidFill>
                  <a:srgbClr val="3D4A5C"/>
                </a:solidFill>
                <a:latin typeface="Hind Siliguri" pitchFamily="34" charset="0"/>
                <a:ea typeface="Hind Siliguri" pitchFamily="34" charset="-122"/>
                <a:cs typeface="Hind Siliguri" pitchFamily="34" charset="-120"/>
              </a:rPr>
              <a:t>kubectl</a:t>
            </a:r>
            <a:r>
              <a:rPr lang="en-US" sz="1400" dirty="0">
                <a:solidFill>
                  <a:srgbClr val="3D4A5C"/>
                </a:solidFill>
                <a:latin typeface="Hind Siliguri" pitchFamily="34" charset="0"/>
                <a:ea typeface="Hind Siliguri" pitchFamily="34" charset="-122"/>
                <a:cs typeface="Hind Siliguri" pitchFamily="34" charset="-120"/>
              </a:rPr>
              <a:t> — the command you use to talk to the cluster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6"/>
        </a:solidFill>
      </p:bgPr>
    </p:bg>
    <p:spTree>
      <p:nvGrpSpPr>
        <p:cNvPr id="1" name=""/>
        <p:cNvGrpSpPr/>
        <p:nvPr/>
      </p:nvGrpSpPr>
      <p:grpSpPr>
        <a:xfrm>
          <a:off x="0" y="0"/>
          <a:ext cx="0" cy="0"/>
          <a:chOff x="0" y="0"/>
          <a:chExt cx="0" cy="0"/>
        </a:xfrm>
      </p:grpSpPr>
      <p:sp>
        <p:nvSpPr>
          <p:cNvPr id="2" name="Text 0"/>
          <p:cNvSpPr/>
          <p:nvPr>
            <p:ph type="title"/>
          </p:nvPr>
        </p:nvSpPr>
        <p:spPr>
          <a:xfrm>
            <a:off x="812767" y="812769"/>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You send YAML; the cluster does the rest</a:t>
            </a:r>
            <a:endParaRPr lang="en-US" sz="3600" dirty="0"/>
          </a:p>
        </p:txBody>
      </p:sp>
      <p:sp>
        <p:nvSpPr>
          <p:cNvPr id="3" name="Shape 1"/>
          <p:cNvSpPr/>
          <p:nvPr/>
        </p:nvSpPr>
        <p:spPr>
          <a:xfrm>
            <a:off x="815942" y="1646461"/>
            <a:ext cx="1477246" cy="1496649"/>
          </a:xfrm>
          <a:prstGeom prst="roundRect">
            <a:avLst>
              <a:gd name="adj" fmla="val 6663"/>
            </a:avLst>
          </a:prstGeom>
          <a:solidFill>
            <a:srgbClr val="FFFFFF"/>
          </a:solidFill>
          <a:ln w="6350">
            <a:solidFill>
              <a:srgbClr val="CDD4E0"/>
            </a:solidFill>
            <a:prstDash val="solid"/>
          </a:ln>
        </p:spPr>
      </p:sp>
      <p:sp>
        <p:nvSpPr>
          <p:cNvPr id="4" name="Text 2"/>
          <p:cNvSpPr/>
          <p:nvPr/>
        </p:nvSpPr>
        <p:spPr>
          <a:xfrm>
            <a:off x="968651"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01</a:t>
            </a:r>
            <a:endParaRPr lang="en-US" sz="1200" dirty="0"/>
          </a:p>
        </p:txBody>
      </p:sp>
      <p:sp>
        <p:nvSpPr>
          <p:cNvPr id="5" name="Text 3"/>
          <p:cNvSpPr/>
          <p:nvPr/>
        </p:nvSpPr>
        <p:spPr>
          <a:xfrm>
            <a:off x="968651"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kubectl apply</a:t>
            </a:r>
            <a:endParaRPr lang="en-US" sz="1400" dirty="0"/>
          </a:p>
        </p:txBody>
      </p:sp>
      <p:sp>
        <p:nvSpPr>
          <p:cNvPr id="6" name="Text 4"/>
          <p:cNvSpPr/>
          <p:nvPr/>
        </p:nvSpPr>
        <p:spPr>
          <a:xfrm>
            <a:off x="968651" y="2327452"/>
            <a:ext cx="1222629"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Sends the YAML to the cluster</a:t>
            </a:r>
            <a:endParaRPr lang="en-US" sz="1200" dirty="0"/>
          </a:p>
        </p:txBody>
      </p:sp>
      <p:pic>
        <p:nvPicPr>
          <p:cNvPr id="7" name="Image 0" descr="arrow-right">    </p:cNvPr>
          <p:cNvPicPr>
            <a:picLocks noChangeAspect="1"/>
          </p:cNvPicPr>
          <p:nvPr/>
        </p:nvPicPr>
        <p:blipFill>
          <a:blip r:embed="rId1"/>
          <a:srcRect l="0" r="0" t="-4" b="-4"/>
          <a:stretch/>
        </p:blipFill>
        <p:spPr>
          <a:xfrm>
            <a:off x="2372541" y="2343990"/>
            <a:ext cx="177767" cy="101589"/>
          </a:xfrm>
          <a:prstGeom prst="rect">
            <a:avLst/>
          </a:prstGeom>
        </p:spPr>
      </p:pic>
      <p:sp>
        <p:nvSpPr>
          <p:cNvPr id="8" name="Shape 5"/>
          <p:cNvSpPr/>
          <p:nvPr/>
        </p:nvSpPr>
        <p:spPr>
          <a:xfrm>
            <a:off x="2629661" y="1646461"/>
            <a:ext cx="1477301" cy="1496649"/>
          </a:xfrm>
          <a:prstGeom prst="roundRect">
            <a:avLst>
              <a:gd name="adj" fmla="val 6662"/>
            </a:avLst>
          </a:prstGeom>
          <a:solidFill>
            <a:srgbClr val="FFFFFF"/>
          </a:solidFill>
          <a:ln w="6350">
            <a:solidFill>
              <a:srgbClr val="CDD4E0"/>
            </a:solidFill>
            <a:prstDash val="solid"/>
          </a:ln>
        </p:spPr>
      </p:sp>
      <p:sp>
        <p:nvSpPr>
          <p:cNvPr id="9" name="Text 6"/>
          <p:cNvSpPr/>
          <p:nvPr/>
        </p:nvSpPr>
        <p:spPr>
          <a:xfrm>
            <a:off x="2782370" y="1799168"/>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02</a:t>
            </a:r>
            <a:endParaRPr lang="en-US" sz="1200" dirty="0"/>
          </a:p>
        </p:txBody>
      </p:sp>
      <p:sp>
        <p:nvSpPr>
          <p:cNvPr id="10" name="Text 7"/>
          <p:cNvSpPr/>
          <p:nvPr/>
        </p:nvSpPr>
        <p:spPr>
          <a:xfrm>
            <a:off x="2782370" y="2063310"/>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API server</a:t>
            </a:r>
            <a:endParaRPr lang="en-US" sz="1400" dirty="0"/>
          </a:p>
        </p:txBody>
      </p:sp>
      <p:sp>
        <p:nvSpPr>
          <p:cNvPr id="11" name="Text 8"/>
          <p:cNvSpPr/>
          <p:nvPr/>
        </p:nvSpPr>
        <p:spPr>
          <a:xfrm>
            <a:off x="2782370" y="2327452"/>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Validates it, stores it in etcd</a:t>
            </a:r>
            <a:endParaRPr lang="en-US" sz="1200" dirty="0"/>
          </a:p>
        </p:txBody>
      </p:sp>
      <p:pic>
        <p:nvPicPr>
          <p:cNvPr id="12" name="Image 1" descr="arrow-right">    </p:cNvPr>
          <p:cNvPicPr>
            <a:picLocks noChangeAspect="1"/>
          </p:cNvPicPr>
          <p:nvPr/>
        </p:nvPicPr>
        <p:blipFill>
          <a:blip r:embed="rId2"/>
          <a:srcRect l="0" r="0" t="-4" b="-4"/>
          <a:stretch/>
        </p:blipFill>
        <p:spPr>
          <a:xfrm>
            <a:off x="4186315" y="2343990"/>
            <a:ext cx="177767" cy="101589"/>
          </a:xfrm>
          <a:prstGeom prst="rect">
            <a:avLst/>
          </a:prstGeom>
        </p:spPr>
      </p:pic>
      <p:sp>
        <p:nvSpPr>
          <p:cNvPr id="13" name="Shape 9"/>
          <p:cNvSpPr/>
          <p:nvPr/>
        </p:nvSpPr>
        <p:spPr>
          <a:xfrm>
            <a:off x="4443435" y="1646461"/>
            <a:ext cx="1477246" cy="1496649"/>
          </a:xfrm>
          <a:prstGeom prst="roundRect">
            <a:avLst>
              <a:gd name="adj" fmla="val 6663"/>
            </a:avLst>
          </a:prstGeom>
          <a:solidFill>
            <a:srgbClr val="FFFFFF"/>
          </a:solidFill>
          <a:ln w="6350">
            <a:solidFill>
              <a:srgbClr val="CDD4E0"/>
            </a:solidFill>
            <a:prstDash val="solid"/>
          </a:ln>
        </p:spPr>
      </p:sp>
      <p:sp>
        <p:nvSpPr>
          <p:cNvPr id="14" name="Text 10"/>
          <p:cNvSpPr/>
          <p:nvPr/>
        </p:nvSpPr>
        <p:spPr>
          <a:xfrm>
            <a:off x="4596143"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03</a:t>
            </a:r>
            <a:endParaRPr lang="en-US" sz="1200" dirty="0"/>
          </a:p>
        </p:txBody>
      </p:sp>
      <p:sp>
        <p:nvSpPr>
          <p:cNvPr id="15" name="Text 11"/>
          <p:cNvSpPr/>
          <p:nvPr/>
        </p:nvSpPr>
        <p:spPr>
          <a:xfrm>
            <a:off x="4596143"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Controllers</a:t>
            </a:r>
            <a:endParaRPr lang="en-US" sz="1400" dirty="0"/>
          </a:p>
        </p:txBody>
      </p:sp>
      <p:sp>
        <p:nvSpPr>
          <p:cNvPr id="16" name="Text 12"/>
          <p:cNvSpPr/>
          <p:nvPr/>
        </p:nvSpPr>
        <p:spPr>
          <a:xfrm>
            <a:off x="4596143" y="2327452"/>
            <a:ext cx="1222629" cy="68834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See 3 Pods are needed, create them</a:t>
            </a:r>
            <a:endParaRPr lang="en-US" sz="1200" dirty="0"/>
          </a:p>
        </p:txBody>
      </p:sp>
      <p:pic>
        <p:nvPicPr>
          <p:cNvPr id="17" name="Image 2" descr="arrow-right">    </p:cNvPr>
          <p:cNvPicPr>
            <a:picLocks noChangeAspect="1"/>
          </p:cNvPicPr>
          <p:nvPr/>
        </p:nvPicPr>
        <p:blipFill>
          <a:blip r:embed="rId3"/>
          <a:srcRect l="0" r="0" t="-4" b="-4"/>
          <a:stretch/>
        </p:blipFill>
        <p:spPr>
          <a:xfrm>
            <a:off x="6000034" y="2343990"/>
            <a:ext cx="177767" cy="101589"/>
          </a:xfrm>
          <a:prstGeom prst="rect">
            <a:avLst/>
          </a:prstGeom>
        </p:spPr>
      </p:pic>
      <p:sp>
        <p:nvSpPr>
          <p:cNvPr id="18" name="Shape 13"/>
          <p:cNvSpPr/>
          <p:nvPr/>
        </p:nvSpPr>
        <p:spPr>
          <a:xfrm>
            <a:off x="6257154" y="1646461"/>
            <a:ext cx="1477301" cy="1496649"/>
          </a:xfrm>
          <a:prstGeom prst="roundRect">
            <a:avLst>
              <a:gd name="adj" fmla="val 6662"/>
            </a:avLst>
          </a:prstGeom>
          <a:solidFill>
            <a:srgbClr val="FFFFFF"/>
          </a:solidFill>
          <a:ln w="6350">
            <a:solidFill>
              <a:srgbClr val="CDD4E0"/>
            </a:solidFill>
            <a:prstDash val="solid"/>
          </a:ln>
        </p:spPr>
      </p:sp>
      <p:sp>
        <p:nvSpPr>
          <p:cNvPr id="19" name="Text 14"/>
          <p:cNvSpPr/>
          <p:nvPr/>
        </p:nvSpPr>
        <p:spPr>
          <a:xfrm>
            <a:off x="6409862" y="1799168"/>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04</a:t>
            </a:r>
            <a:endParaRPr lang="en-US" sz="1200" dirty="0"/>
          </a:p>
        </p:txBody>
      </p:sp>
      <p:sp>
        <p:nvSpPr>
          <p:cNvPr id="20" name="Text 15"/>
          <p:cNvSpPr/>
          <p:nvPr/>
        </p:nvSpPr>
        <p:spPr>
          <a:xfrm>
            <a:off x="6409862" y="2063310"/>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Scheduler</a:t>
            </a:r>
            <a:endParaRPr lang="en-US" sz="1400" dirty="0"/>
          </a:p>
        </p:txBody>
      </p:sp>
      <p:sp>
        <p:nvSpPr>
          <p:cNvPr id="21" name="Text 16"/>
          <p:cNvSpPr/>
          <p:nvPr/>
        </p:nvSpPr>
        <p:spPr>
          <a:xfrm>
            <a:off x="6409862" y="2327452"/>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Picks a node for each Pod</a:t>
            </a:r>
            <a:endParaRPr lang="en-US" sz="1200" dirty="0"/>
          </a:p>
        </p:txBody>
      </p:sp>
      <p:pic>
        <p:nvPicPr>
          <p:cNvPr id="22" name="Image 3" descr="arrow-right">    </p:cNvPr>
          <p:cNvPicPr>
            <a:picLocks noChangeAspect="1"/>
          </p:cNvPicPr>
          <p:nvPr/>
        </p:nvPicPr>
        <p:blipFill>
          <a:blip r:embed="rId4"/>
          <a:srcRect l="0" r="0" t="-4" b="-4"/>
          <a:stretch/>
        </p:blipFill>
        <p:spPr>
          <a:xfrm>
            <a:off x="7813808" y="2343990"/>
            <a:ext cx="177767" cy="101589"/>
          </a:xfrm>
          <a:prstGeom prst="rect">
            <a:avLst/>
          </a:prstGeom>
        </p:spPr>
      </p:pic>
      <p:sp>
        <p:nvSpPr>
          <p:cNvPr id="23" name="Shape 17"/>
          <p:cNvSpPr/>
          <p:nvPr/>
        </p:nvSpPr>
        <p:spPr>
          <a:xfrm>
            <a:off x="8070928" y="1646461"/>
            <a:ext cx="1477246" cy="1496649"/>
          </a:xfrm>
          <a:prstGeom prst="roundRect">
            <a:avLst>
              <a:gd name="adj" fmla="val 6663"/>
            </a:avLst>
          </a:prstGeom>
          <a:solidFill>
            <a:srgbClr val="FFFFFF"/>
          </a:solidFill>
          <a:ln w="6350">
            <a:solidFill>
              <a:srgbClr val="CDD4E0"/>
            </a:solidFill>
            <a:prstDash val="solid"/>
          </a:ln>
        </p:spPr>
      </p:sp>
      <p:sp>
        <p:nvSpPr>
          <p:cNvPr id="24" name="Text 18"/>
          <p:cNvSpPr/>
          <p:nvPr/>
        </p:nvSpPr>
        <p:spPr>
          <a:xfrm>
            <a:off x="8223636"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05</a:t>
            </a:r>
            <a:endParaRPr lang="en-US" sz="1200" dirty="0"/>
          </a:p>
        </p:txBody>
      </p:sp>
      <p:sp>
        <p:nvSpPr>
          <p:cNvPr id="25" name="Text 19"/>
          <p:cNvSpPr/>
          <p:nvPr/>
        </p:nvSpPr>
        <p:spPr>
          <a:xfrm>
            <a:off x="8223636"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kubelet</a:t>
            </a:r>
            <a:endParaRPr lang="en-US" sz="1400" dirty="0"/>
          </a:p>
        </p:txBody>
      </p:sp>
      <p:sp>
        <p:nvSpPr>
          <p:cNvPr id="26" name="Text 20"/>
          <p:cNvSpPr/>
          <p:nvPr/>
        </p:nvSpPr>
        <p:spPr>
          <a:xfrm>
            <a:off x="8223636" y="2327452"/>
            <a:ext cx="1222629" cy="68834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Pulls the image, runs the container</a:t>
            </a:r>
            <a:endParaRPr lang="en-US" sz="1200" dirty="0"/>
          </a:p>
        </p:txBody>
      </p:sp>
      <p:pic>
        <p:nvPicPr>
          <p:cNvPr id="27" name="Image 4" descr="arrow-right">    </p:cNvPr>
          <p:cNvPicPr>
            <a:picLocks noChangeAspect="1"/>
          </p:cNvPicPr>
          <p:nvPr/>
        </p:nvPicPr>
        <p:blipFill>
          <a:blip r:embed="rId5"/>
          <a:srcRect l="0" r="0" t="-4" b="-4"/>
          <a:stretch/>
        </p:blipFill>
        <p:spPr>
          <a:xfrm>
            <a:off x="9627526" y="2343990"/>
            <a:ext cx="177767" cy="101589"/>
          </a:xfrm>
          <a:prstGeom prst="rect">
            <a:avLst/>
          </a:prstGeom>
        </p:spPr>
      </p:pic>
      <p:sp>
        <p:nvSpPr>
          <p:cNvPr id="28" name="Shape 21"/>
          <p:cNvSpPr/>
          <p:nvPr/>
        </p:nvSpPr>
        <p:spPr>
          <a:xfrm>
            <a:off x="9887821" y="1649636"/>
            <a:ext cx="1485062" cy="1490299"/>
          </a:xfrm>
          <a:prstGeom prst="roundRect">
            <a:avLst>
              <a:gd name="adj" fmla="val 6414"/>
            </a:avLst>
          </a:prstGeom>
          <a:solidFill>
            <a:srgbClr val="DCE6FA"/>
          </a:solidFill>
          <a:ln w="12700">
            <a:solidFill>
              <a:srgbClr val="2456C2"/>
            </a:solidFill>
            <a:prstDash val="solid"/>
          </a:ln>
        </p:spPr>
      </p:sp>
      <p:sp>
        <p:nvSpPr>
          <p:cNvPr id="29" name="Text 22"/>
          <p:cNvSpPr/>
          <p:nvPr/>
        </p:nvSpPr>
        <p:spPr>
          <a:xfrm>
            <a:off x="10044411" y="1806225"/>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06</a:t>
            </a:r>
            <a:endParaRPr lang="en-US" sz="1200" dirty="0"/>
          </a:p>
        </p:txBody>
      </p:sp>
      <p:sp>
        <p:nvSpPr>
          <p:cNvPr id="30" name="Text 23"/>
          <p:cNvSpPr/>
          <p:nvPr/>
        </p:nvSpPr>
        <p:spPr>
          <a:xfrm>
            <a:off x="10044411" y="2070367"/>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Pod Ready</a:t>
            </a:r>
            <a:endParaRPr lang="en-US" sz="1400" dirty="0"/>
          </a:p>
        </p:txBody>
      </p:sp>
      <p:sp>
        <p:nvSpPr>
          <p:cNvPr id="31" name="Text 24"/>
          <p:cNvSpPr/>
          <p:nvPr/>
        </p:nvSpPr>
        <p:spPr>
          <a:xfrm>
            <a:off x="10044411" y="2334509"/>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Hind Siliguri" pitchFamily="34" charset="0"/>
                <a:ea typeface="Hind Siliguri" pitchFamily="34" charset="-122"/>
                <a:cs typeface="Hind Siliguri" pitchFamily="34" charset="-120"/>
              </a:rPr>
              <a:t>The Service now sends it traffic</a:t>
            </a:r>
            <a:endParaRPr lang="en-US" sz="1200" dirty="0"/>
          </a:p>
        </p:txBody>
      </p:sp>
      <p:sp>
        <p:nvSpPr>
          <p:cNvPr id="32" name="Shape 25"/>
          <p:cNvSpPr/>
          <p:nvPr/>
        </p:nvSpPr>
        <p:spPr>
          <a:xfrm>
            <a:off x="812767" y="3451051"/>
            <a:ext cx="10566467" cy="1394409"/>
          </a:xfrm>
          <a:prstGeom prst="roundRect">
            <a:avLst>
              <a:gd name="adj" fmla="val 7286"/>
            </a:avLst>
          </a:prstGeom>
          <a:solidFill>
            <a:srgbClr val="14213D"/>
          </a:solidFill>
          <a:ln/>
        </p:spPr>
      </p:sp>
      <p:sp>
        <p:nvSpPr>
          <p:cNvPr id="33" name="Text 26"/>
          <p:cNvSpPr/>
          <p:nvPr/>
        </p:nvSpPr>
        <p:spPr>
          <a:xfrm>
            <a:off x="1066767" y="3705051"/>
            <a:ext cx="1036022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Reconciling never stops after the deploy</a:t>
            </a:r>
            <a:endParaRPr lang="en-US" sz="1600" dirty="0"/>
          </a:p>
        </p:txBody>
      </p:sp>
      <p:sp>
        <p:nvSpPr>
          <p:cNvPr id="34" name="Text 27"/>
          <p:cNvSpPr/>
          <p:nvPr/>
        </p:nvSpPr>
        <p:spPr>
          <a:xfrm>
            <a:off x="1066767" y="4075854"/>
            <a:ext cx="3313853"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Container crashes</a:t>
            </a:r>
            <a:r>
              <a:rPr lang="en-US" sz="1400" dirty="0">
                <a:solidFill>
                  <a:srgbClr val="C9D3E6"/>
                </a:solidFill>
                <a:latin typeface="Hind Siliguri" pitchFamily="34" charset="0"/>
                <a:ea typeface="Hind Siliguri" pitchFamily="34" charset="-122"/>
                <a:cs typeface="Hind Siliguri" pitchFamily="34" charset="-120"/>
              </a:rPr>
              <a:t> → the kubelet restarts it</a:t>
            </a:r>
            <a:endParaRPr lang="en-US" sz="1400" dirty="0"/>
          </a:p>
        </p:txBody>
      </p:sp>
      <p:sp>
        <p:nvSpPr>
          <p:cNvPr id="35" name="Text 28"/>
          <p:cNvSpPr/>
          <p:nvPr/>
        </p:nvSpPr>
        <p:spPr>
          <a:xfrm>
            <a:off x="4487278" y="4075854"/>
            <a:ext cx="3313910"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A Pod disappears</a:t>
            </a:r>
            <a:r>
              <a:rPr lang="en-US" sz="1400" dirty="0">
                <a:solidFill>
                  <a:srgbClr val="C9D3E6"/>
                </a:solidFill>
                <a:latin typeface="Hind Siliguri" pitchFamily="34" charset="0"/>
                <a:ea typeface="Hind Siliguri" pitchFamily="34" charset="-122"/>
                <a:cs typeface="Hind Siliguri" pitchFamily="34" charset="-120"/>
              </a:rPr>
              <a:t> → a controller creates a new one</a:t>
            </a:r>
            <a:endParaRPr lang="en-US" sz="1400" dirty="0"/>
          </a:p>
        </p:txBody>
      </p:sp>
      <p:sp>
        <p:nvSpPr>
          <p:cNvPr id="36" name="Text 29"/>
          <p:cNvSpPr/>
          <p:nvPr/>
        </p:nvSpPr>
        <p:spPr>
          <a:xfrm>
            <a:off x="7907845" y="4075854"/>
            <a:ext cx="3313910"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A node dies</a:t>
            </a:r>
            <a:r>
              <a:rPr lang="en-US" sz="1400" dirty="0">
                <a:solidFill>
                  <a:srgbClr val="C9D3E6"/>
                </a:solidFill>
                <a:latin typeface="Hind Siliguri" pitchFamily="34" charset="0"/>
                <a:ea typeface="Hind Siliguri" pitchFamily="34" charset="-122"/>
                <a:cs typeface="Hind Siliguri" pitchFamily="34" charset="-120"/>
              </a:rPr>
              <a:t> → Pods move to another node within minutes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Real-world example: subscription payments</a:t>
            </a:r>
            <a:endParaRPr lang="en-US" sz="3600" dirty="0"/>
          </a:p>
        </p:txBody>
      </p:sp>
      <p:pic>
        <p:nvPicPr>
          <p:cNvPr id="3" name="Image 0" descr="Subscription payment flow on Kubernetes: user, gateway, payment-gateway service, payment provider, callback, queue, worker, database and a renewal CronJob">    </p:cNvPr>
          <p:cNvPicPr>
            <a:picLocks noChangeAspect="1"/>
          </p:cNvPicPr>
          <p:nvPr/>
        </p:nvPicPr>
        <p:blipFill>
          <a:blip r:embed="rId1"/>
          <a:srcRect l="0" r="0" t="-17" b="-17"/>
          <a:stretch/>
        </p:blipFill>
        <p:spPr>
          <a:xfrm>
            <a:off x="812767" y="1541692"/>
            <a:ext cx="10566357" cy="3556000"/>
          </a:xfrm>
          <a:prstGeom prst="rect">
            <a:avLst/>
          </a:prstGeom>
        </p:spPr>
      </p:pic>
      <p:sp>
        <p:nvSpPr>
          <p:cNvPr id="4" name="Text 1"/>
          <p:cNvSpPr/>
          <p:nvPr/>
        </p:nvSpPr>
        <p:spPr>
          <a:xfrm>
            <a:off x="812767" y="5300870"/>
            <a:ext cx="10883461" cy="520612"/>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4213D"/>
                </a:solidFill>
                <a:latin typeface="Hind Siliguri" pitchFamily="34" charset="0"/>
                <a:ea typeface="Hind Siliguri" pitchFamily="34" charset="-122"/>
                <a:cs typeface="Hind Siliguri" pitchFamily="34" charset="-120"/>
              </a:rPr>
              <a:t>1</a:t>
            </a:r>
            <a:r>
              <a:rPr lang="en-US" sz="1300" dirty="0">
                <a:solidFill>
                  <a:srgbClr val="3D4A5C"/>
                </a:solidFill>
                <a:latin typeface="Hind Siliguri" pitchFamily="34" charset="0"/>
                <a:ea typeface="Hind Siliguri" pitchFamily="34" charset="-122"/>
                <a:cs typeface="Hind Siliguri" pitchFamily="34" charset="-120"/>
              </a:rPr>
              <a:t> user subscribes → </a:t>
            </a:r>
            <a:r>
              <a:rPr lang="en-US" sz="1300" b="1" dirty="0">
                <a:solidFill>
                  <a:srgbClr val="14213D"/>
                </a:solidFill>
                <a:latin typeface="Hind Siliguri" pitchFamily="34" charset="0"/>
                <a:ea typeface="Hind Siliguri" pitchFamily="34" charset="-122"/>
                <a:cs typeface="Hind Siliguri" pitchFamily="34" charset="-120"/>
              </a:rPr>
              <a:t>2</a:t>
            </a:r>
            <a:r>
              <a:rPr lang="en-US" sz="1300" dirty="0">
                <a:solidFill>
                  <a:srgbClr val="3D4A5C"/>
                </a:solidFill>
                <a:latin typeface="Hind Siliguri" pitchFamily="34" charset="0"/>
                <a:ea typeface="Hind Siliguri" pitchFamily="34" charset="-122"/>
                <a:cs typeface="Hind Siliguri" pitchFamily="34" charset="-120"/>
              </a:rPr>
              <a:t> Gateway (HTTPS) → </a:t>
            </a:r>
            <a:r>
              <a:rPr lang="en-US" sz="1300" b="1" dirty="0">
                <a:solidFill>
                  <a:srgbClr val="14213D"/>
                </a:solidFill>
                <a:latin typeface="Hind Siliguri" pitchFamily="34" charset="0"/>
                <a:ea typeface="Hind Siliguri" pitchFamily="34" charset="-122"/>
                <a:cs typeface="Hind Siliguri" pitchFamily="34" charset="-120"/>
              </a:rPr>
              <a:t>3</a:t>
            </a:r>
            <a:r>
              <a:rPr lang="en-US" sz="1300" dirty="0">
                <a:solidFill>
                  <a:srgbClr val="3D4A5C"/>
                </a:solidFill>
                <a:latin typeface="Hind Siliguri" pitchFamily="34" charset="0"/>
                <a:ea typeface="Hind Siliguri" pitchFamily="34" charset="-122"/>
                <a:cs typeface="Hind Siliguri" pitchFamily="34" charset="-120"/>
              </a:rPr>
              <a:t> payment-gateway sends the charge → </a:t>
            </a:r>
            <a:r>
              <a:rPr lang="en-US" sz="1300" b="1" dirty="0">
                <a:solidFill>
                  <a:srgbClr val="14213D"/>
                </a:solidFill>
                <a:latin typeface="Hind Siliguri" pitchFamily="34" charset="0"/>
                <a:ea typeface="Hind Siliguri" pitchFamily="34" charset="-122"/>
                <a:cs typeface="Hind Siliguri" pitchFamily="34" charset="-120"/>
              </a:rPr>
              <a:t>4</a:t>
            </a:r>
            <a:r>
              <a:rPr lang="en-US" sz="1300" dirty="0">
                <a:solidFill>
                  <a:srgbClr val="3D4A5C"/>
                </a:solidFill>
                <a:latin typeface="Hind Siliguri" pitchFamily="34" charset="0"/>
                <a:ea typeface="Hind Siliguri" pitchFamily="34" charset="-122"/>
                <a:cs typeface="Hind Siliguri" pitchFamily="34" charset="-120"/>
              </a:rPr>
              <a:t> callback comes back → </a:t>
            </a:r>
            <a:r>
              <a:rPr lang="en-US" sz="1300" b="1" dirty="0">
                <a:solidFill>
                  <a:srgbClr val="14213D"/>
                </a:solidFill>
                <a:latin typeface="Hind Siliguri" pitchFamily="34" charset="0"/>
                <a:ea typeface="Hind Siliguri" pitchFamily="34" charset="-122"/>
                <a:cs typeface="Hind Siliguri" pitchFamily="34" charset="-120"/>
              </a:rPr>
              <a:t>5</a:t>
            </a:r>
            <a:r>
              <a:rPr lang="en-US" sz="1300" dirty="0">
                <a:solidFill>
                  <a:srgbClr val="3D4A5C"/>
                </a:solidFill>
                <a:latin typeface="Hind Siliguri" pitchFamily="34" charset="0"/>
                <a:ea typeface="Hind Siliguri" pitchFamily="34" charset="-122"/>
                <a:cs typeface="Hind Siliguri" pitchFamily="34" charset="-120"/>
              </a:rPr>
              <a:t> queued → </a:t>
            </a:r>
            <a:r>
              <a:rPr lang="en-US" sz="1300" b="1" dirty="0">
                <a:solidFill>
                  <a:srgbClr val="14213D"/>
                </a:solidFill>
                <a:latin typeface="Hind Siliguri" pitchFamily="34" charset="0"/>
                <a:ea typeface="Hind Siliguri" pitchFamily="34" charset="-122"/>
                <a:cs typeface="Hind Siliguri" pitchFamily="34" charset="-120"/>
              </a:rPr>
              <a:t>6</a:t>
            </a:r>
            <a:r>
              <a:rPr lang="en-US" sz="1300" dirty="0">
                <a:solidFill>
                  <a:srgbClr val="3D4A5C"/>
                </a:solidFill>
                <a:latin typeface="Hind Siliguri" pitchFamily="34" charset="0"/>
                <a:ea typeface="Hind Siliguri" pitchFamily="34" charset="-122"/>
                <a:cs typeface="Hind Siliguri" pitchFamily="34" charset="-120"/>
              </a:rPr>
              <a:t> worker picks it up → </a:t>
            </a:r>
            <a:r>
              <a:rPr lang="en-US" sz="1300" b="1" dirty="0">
                <a:solidFill>
                  <a:srgbClr val="14213D"/>
                </a:solidFill>
                <a:latin typeface="Hind Siliguri" pitchFamily="34" charset="0"/>
                <a:ea typeface="Hind Siliguri" pitchFamily="34" charset="-122"/>
                <a:cs typeface="Hind Siliguri" pitchFamily="34" charset="-120"/>
              </a:rPr>
              <a:t>7</a:t>
            </a:r>
            <a:r>
              <a:rPr lang="en-US" sz="1300" dirty="0">
                <a:solidFill>
                  <a:srgbClr val="3D4A5C"/>
                </a:solidFill>
                <a:latin typeface="Hind Siliguri" pitchFamily="34" charset="0"/>
                <a:ea typeface="Hind Siliguri" pitchFamily="34" charset="-122"/>
                <a:cs typeface="Hind Siliguri" pitchFamily="34" charset="-120"/>
              </a:rPr>
              <a:t> writes to the DB · </a:t>
            </a:r>
            <a:r>
              <a:rPr lang="en-US" sz="1300" b="1" dirty="0">
                <a:solidFill>
                  <a:srgbClr val="14213D"/>
                </a:solidFill>
                <a:latin typeface="Hind Siliguri" pitchFamily="34" charset="0"/>
                <a:ea typeface="Hind Siliguri" pitchFamily="34" charset="-122"/>
                <a:cs typeface="Hind Siliguri" pitchFamily="34" charset="-120"/>
              </a:rPr>
              <a:t>8</a:t>
            </a:r>
            <a:r>
              <a:rPr lang="en-US" sz="1300" dirty="0">
                <a:solidFill>
                  <a:srgbClr val="3D4A5C"/>
                </a:solidFill>
                <a:latin typeface="Hind Siliguri" pitchFamily="34" charset="0"/>
                <a:ea typeface="Hind Siliguri" pitchFamily="34" charset="-122"/>
                <a:cs typeface="Hind Siliguri" pitchFamily="34" charset="-120"/>
              </a:rPr>
              <a:t> nightly renewal CronJob. Orange = outside the cluster.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When to use it — and when not to</a:t>
            </a:r>
            <a:endParaRPr lang="en-US" sz="3600" dirty="0"/>
          </a:p>
        </p:txBody>
      </p:sp>
      <p:sp>
        <p:nvSpPr>
          <p:cNvPr id="3" name="Shape 1"/>
          <p:cNvSpPr/>
          <p:nvPr/>
        </p:nvSpPr>
        <p:spPr>
          <a:xfrm>
            <a:off x="815942" y="1595689"/>
            <a:ext cx="3414216" cy="1717466"/>
          </a:xfrm>
          <a:prstGeom prst="roundRect">
            <a:avLst>
              <a:gd name="adj" fmla="val 5731"/>
            </a:avLst>
          </a:prstGeom>
          <a:solidFill>
            <a:srgbClr val="FFFFFF"/>
          </a:solidFill>
          <a:ln w="6350">
            <a:solidFill>
              <a:srgbClr val="DCDDD5"/>
            </a:solidFill>
            <a:prstDash val="solid"/>
          </a:ln>
        </p:spPr>
      </p:sp>
      <p:sp>
        <p:nvSpPr>
          <p:cNvPr id="4" name="Text 2"/>
          <p:cNvSpPr/>
          <p:nvPr/>
        </p:nvSpPr>
        <p:spPr>
          <a:xfrm>
            <a:off x="1019473"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A good fit</a:t>
            </a:r>
            <a:endParaRPr lang="en-US" sz="1600" dirty="0"/>
          </a:p>
        </p:txBody>
      </p:sp>
      <p:sp>
        <p:nvSpPr>
          <p:cNvPr id="5" name="Text 3"/>
          <p:cNvSpPr/>
          <p:nvPr/>
        </p:nvSpPr>
        <p:spPr>
          <a:xfrm>
            <a:off x="1098467"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Many services</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Traffic that rises and falls</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Downtime is not acceptable</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Frequent releases</a:t>
            </a:r>
            <a:endParaRPr lang="en-US" sz="1300" dirty="0"/>
          </a:p>
        </p:txBody>
      </p:sp>
      <p:sp>
        <p:nvSpPr>
          <p:cNvPr id="6" name="Shape 4"/>
          <p:cNvSpPr/>
          <p:nvPr/>
        </p:nvSpPr>
        <p:spPr>
          <a:xfrm>
            <a:off x="4388864" y="1595689"/>
            <a:ext cx="3414216" cy="1717466"/>
          </a:xfrm>
          <a:prstGeom prst="roundRect">
            <a:avLst>
              <a:gd name="adj" fmla="val 5731"/>
            </a:avLst>
          </a:prstGeom>
          <a:solidFill>
            <a:srgbClr val="FFFFFF"/>
          </a:solidFill>
          <a:ln w="6350">
            <a:solidFill>
              <a:srgbClr val="DCDDD5"/>
            </a:solidFill>
            <a:prstDash val="solid"/>
          </a:ln>
        </p:spPr>
      </p:sp>
      <p:sp>
        <p:nvSpPr>
          <p:cNvPr id="7" name="Text 5"/>
          <p:cNvSpPr/>
          <p:nvPr/>
        </p:nvSpPr>
        <p:spPr>
          <a:xfrm>
            <a:off x="4592395"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The cost (trade-offs)</a:t>
            </a:r>
            <a:endParaRPr lang="en-US" sz="1600" dirty="0"/>
          </a:p>
        </p:txBody>
      </p:sp>
      <p:sp>
        <p:nvSpPr>
          <p:cNvPr id="8" name="Text 6"/>
          <p:cNvSpPr/>
          <p:nvPr/>
        </p:nvSpPr>
        <p:spPr>
          <a:xfrm>
            <a:off x="4671389"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A long learning curve</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Lots of YAML, silent bugs</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Running a cluster is a job itself</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Harder to debug</a:t>
            </a:r>
            <a:endParaRPr lang="en-US" sz="1300" dirty="0"/>
          </a:p>
        </p:txBody>
      </p:sp>
      <p:sp>
        <p:nvSpPr>
          <p:cNvPr id="9" name="Shape 7"/>
          <p:cNvSpPr/>
          <p:nvPr/>
        </p:nvSpPr>
        <p:spPr>
          <a:xfrm>
            <a:off x="7961787" y="1595689"/>
            <a:ext cx="3414216" cy="1717466"/>
          </a:xfrm>
          <a:prstGeom prst="roundRect">
            <a:avLst>
              <a:gd name="adj" fmla="val 5731"/>
            </a:avLst>
          </a:prstGeom>
          <a:solidFill>
            <a:srgbClr val="FFFFFF"/>
          </a:solidFill>
          <a:ln w="6350">
            <a:solidFill>
              <a:srgbClr val="DCDDD5"/>
            </a:solidFill>
            <a:prstDash val="solid"/>
          </a:ln>
        </p:spPr>
      </p:sp>
      <p:sp>
        <p:nvSpPr>
          <p:cNvPr id="10" name="Text 8"/>
          <p:cNvSpPr/>
          <p:nvPr/>
        </p:nvSpPr>
        <p:spPr>
          <a:xfrm>
            <a:off x="8165318"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Skip it when</a:t>
            </a:r>
            <a:endParaRPr lang="en-US" sz="1600" dirty="0"/>
          </a:p>
        </p:txBody>
      </p:sp>
      <p:sp>
        <p:nvSpPr>
          <p:cNvPr id="11" name="Text 9"/>
          <p:cNvSpPr/>
          <p:nvPr/>
        </p:nvSpPr>
        <p:spPr>
          <a:xfrm>
            <a:off x="8244312"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1–2 small apps, steady traffic</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No one can run a cluster</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Only a database — use a managed DB</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"Everyone uses it" — not a reason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1"/>
                </a:solidFill>
                <a:latin typeface="Hind Siliguri" pitchFamily="34" charset="0"/>
                <a:ea typeface="Hind Siliguri" pitchFamily="34" charset="-122"/>
                <a:cs typeface="Hind Siliguri" pitchFamily="34" charset="-120"/>
              </a:rPr>
              <a:t>Why we are learning Kubernetes</a:t>
            </a:r>
            <a:endParaRPr lang="en-US" sz="3600" dirty="0"/>
          </a:p>
        </p:txBody>
      </p:sp>
      <p:sp>
        <p:nvSpPr>
          <p:cNvPr id="3" name="Shape 1"/>
          <p:cNvSpPr/>
          <p:nvPr/>
        </p:nvSpPr>
        <p:spPr>
          <a:xfrm>
            <a:off x="815942" y="1595692"/>
            <a:ext cx="5200705" cy="1180306"/>
          </a:xfrm>
          <a:prstGeom prst="roundRect">
            <a:avLst>
              <a:gd name="adj" fmla="val 8339"/>
            </a:avLst>
          </a:prstGeom>
          <a:solidFill>
            <a:srgbClr val="1F2E4F"/>
          </a:solidFill>
          <a:ln w="6350">
            <a:solidFill>
              <a:srgbClr val="3A4A6E"/>
            </a:solidFill>
            <a:prstDash val="solid"/>
          </a:ln>
        </p:spPr>
      </p:sp>
      <p:pic>
        <p:nvPicPr>
          <p:cNvPr id="4" name="Image 0" descr="Trust">    </p:cNvPr>
          <p:cNvPicPr>
            <a:picLocks noChangeAspect="1"/>
          </p:cNvPicPr>
          <p:nvPr/>
        </p:nvPicPr>
        <p:blipFill>
          <a:blip r:embed="rId1"/>
          <a:srcRect l="0" r="0" t="0" b="0"/>
          <a:stretch/>
        </p:blipFill>
        <p:spPr>
          <a:xfrm>
            <a:off x="1019473" y="1799220"/>
            <a:ext cx="304767" cy="304767"/>
          </a:xfrm>
          <a:prstGeom prst="rect">
            <a:avLst/>
          </a:prstGeom>
        </p:spPr>
      </p:pic>
      <p:sp>
        <p:nvSpPr>
          <p:cNvPr id="5" name="Text 2"/>
          <p:cNvSpPr/>
          <p:nvPr/>
        </p:nvSpPr>
        <p:spPr>
          <a:xfrm>
            <a:off x="1476596" y="1799220"/>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Money work can't go down</a:t>
            </a:r>
            <a:endParaRPr lang="en-US" sz="1600" dirty="0"/>
          </a:p>
        </p:txBody>
      </p:sp>
      <p:sp>
        <p:nvSpPr>
          <p:cNvPr id="6" name="Text 3"/>
          <p:cNvSpPr/>
          <p:nvPr/>
        </p:nvSpPr>
        <p:spPr>
          <a:xfrm>
            <a:off x="1476596" y="2093792"/>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Payment callbacks and webhooks — no request can be lost, even during a deploy</a:t>
            </a:r>
            <a:endParaRPr lang="en-US" sz="1300" dirty="0"/>
          </a:p>
        </p:txBody>
      </p:sp>
      <p:sp>
        <p:nvSpPr>
          <p:cNvPr id="7" name="Shape 4"/>
          <p:cNvSpPr/>
          <p:nvPr/>
        </p:nvSpPr>
        <p:spPr>
          <a:xfrm>
            <a:off x="6175353" y="1595692"/>
            <a:ext cx="5200705" cy="1180306"/>
          </a:xfrm>
          <a:prstGeom prst="roundRect">
            <a:avLst>
              <a:gd name="adj" fmla="val 8339"/>
            </a:avLst>
          </a:prstGeom>
          <a:solidFill>
            <a:srgbClr val="1F2E4F"/>
          </a:solidFill>
          <a:ln w="6350">
            <a:solidFill>
              <a:srgbClr val="3A4A6E"/>
            </a:solidFill>
            <a:prstDash val="solid"/>
          </a:ln>
        </p:spPr>
      </p:sp>
      <p:pic>
        <p:nvPicPr>
          <p:cNvPr id="8" name="Image 1" descr="Link">    </p:cNvPr>
          <p:cNvPicPr>
            <a:picLocks noChangeAspect="1"/>
          </p:cNvPicPr>
          <p:nvPr/>
        </p:nvPicPr>
        <p:blipFill>
          <a:blip r:embed="rId2"/>
          <a:srcRect l="0" r="0" t="0" b="0"/>
          <a:stretch/>
        </p:blipFill>
        <p:spPr>
          <a:xfrm>
            <a:off x="6378884" y="1799220"/>
            <a:ext cx="304767" cy="304767"/>
          </a:xfrm>
          <a:prstGeom prst="rect">
            <a:avLst/>
          </a:prstGeom>
        </p:spPr>
      </p:pic>
      <p:sp>
        <p:nvSpPr>
          <p:cNvPr id="9" name="Text 5"/>
          <p:cNvSpPr/>
          <p:nvPr/>
        </p:nvSpPr>
        <p:spPr>
          <a:xfrm>
            <a:off x="6836007" y="1799220"/>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Many products, one gateway</a:t>
            </a:r>
            <a:endParaRPr lang="en-US" sz="1600" dirty="0"/>
          </a:p>
        </p:txBody>
      </p:sp>
      <p:sp>
        <p:nvSpPr>
          <p:cNvPr id="10" name="Text 6"/>
          <p:cNvSpPr/>
          <p:nvPr/>
        </p:nvSpPr>
        <p:spPr>
          <a:xfrm>
            <a:off x="6836007" y="2093792"/>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Each service deploys and scales on its own, and finds the others by name</a:t>
            </a:r>
            <a:endParaRPr lang="en-US" sz="1300" dirty="0"/>
          </a:p>
        </p:txBody>
      </p:sp>
      <p:sp>
        <p:nvSpPr>
          <p:cNvPr id="11" name="Shape 7"/>
          <p:cNvSpPr/>
          <p:nvPr/>
        </p:nvSpPr>
        <p:spPr>
          <a:xfrm>
            <a:off x="815942" y="2934701"/>
            <a:ext cx="5200705" cy="1180306"/>
          </a:xfrm>
          <a:prstGeom prst="roundRect">
            <a:avLst>
              <a:gd name="adj" fmla="val 8339"/>
            </a:avLst>
          </a:prstGeom>
          <a:solidFill>
            <a:srgbClr val="1F2E4F"/>
          </a:solidFill>
          <a:ln w="6350">
            <a:solidFill>
              <a:srgbClr val="3A4A6E"/>
            </a:solidFill>
            <a:prstDash val="solid"/>
          </a:ln>
        </p:spPr>
      </p:sp>
      <p:pic>
        <p:nvPicPr>
          <p:cNvPr id="12" name="Image 2" descr="Wrench">    </p:cNvPr>
          <p:cNvPicPr>
            <a:picLocks noChangeAspect="1"/>
          </p:cNvPicPr>
          <p:nvPr/>
        </p:nvPicPr>
        <p:blipFill>
          <a:blip r:embed="rId3"/>
          <a:srcRect l="0" r="0" t="0" b="0"/>
          <a:stretch/>
        </p:blipFill>
        <p:spPr>
          <a:xfrm>
            <a:off x="1019473" y="3138233"/>
            <a:ext cx="304767" cy="304767"/>
          </a:xfrm>
          <a:prstGeom prst="rect">
            <a:avLst/>
          </a:prstGeom>
        </p:spPr>
      </p:pic>
      <p:sp>
        <p:nvSpPr>
          <p:cNvPr id="13" name="Text 8"/>
          <p:cNvSpPr/>
          <p:nvPr/>
        </p:nvSpPr>
        <p:spPr>
          <a:xfrm>
            <a:off x="1476596" y="3138233"/>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Owning our own apps</a:t>
            </a:r>
            <a:endParaRPr lang="en-US" sz="1600" dirty="0"/>
          </a:p>
        </p:txBody>
      </p:sp>
      <p:sp>
        <p:nvSpPr>
          <p:cNvPr id="14" name="Text 9"/>
          <p:cNvSpPr/>
          <p:nvPr/>
        </p:nvSpPr>
        <p:spPr>
          <a:xfrm>
            <a:off x="1476596" y="3432801"/>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Even if someone else runs the cluster, the YAML, health checks and debugging are ours</a:t>
            </a:r>
            <a:endParaRPr lang="en-US" sz="1300" dirty="0"/>
          </a:p>
        </p:txBody>
      </p:sp>
      <p:sp>
        <p:nvSpPr>
          <p:cNvPr id="15" name="Shape 10"/>
          <p:cNvSpPr/>
          <p:nvPr/>
        </p:nvSpPr>
        <p:spPr>
          <a:xfrm>
            <a:off x="6175353" y="2934701"/>
            <a:ext cx="5200705" cy="1180306"/>
          </a:xfrm>
          <a:prstGeom prst="roundRect">
            <a:avLst>
              <a:gd name="adj" fmla="val 8339"/>
            </a:avLst>
          </a:prstGeom>
          <a:solidFill>
            <a:srgbClr val="1F2E4F"/>
          </a:solidFill>
          <a:ln w="6350">
            <a:solidFill>
              <a:srgbClr val="3A4A6E"/>
            </a:solidFill>
            <a:prstDash val="solid"/>
          </a:ln>
        </p:spPr>
      </p:sp>
      <p:pic>
        <p:nvPicPr>
          <p:cNvPr id="16" name="Image 3" descr="Globe">    </p:cNvPr>
          <p:cNvPicPr>
            <a:picLocks noChangeAspect="1"/>
          </p:cNvPicPr>
          <p:nvPr/>
        </p:nvPicPr>
        <p:blipFill>
          <a:blip r:embed="rId4"/>
          <a:srcRect l="0" r="0" t="0" b="0"/>
          <a:stretch/>
        </p:blipFill>
        <p:spPr>
          <a:xfrm>
            <a:off x="6378884" y="3138233"/>
            <a:ext cx="304767" cy="304767"/>
          </a:xfrm>
          <a:prstGeom prst="rect">
            <a:avLst/>
          </a:prstGeom>
        </p:spPr>
      </p:pic>
      <p:sp>
        <p:nvSpPr>
          <p:cNvPr id="17" name="Text 11"/>
          <p:cNvSpPr/>
          <p:nvPr/>
        </p:nvSpPr>
        <p:spPr>
          <a:xfrm>
            <a:off x="6836007" y="3138233"/>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Industry standard</a:t>
            </a:r>
            <a:endParaRPr lang="en-US" sz="1600" dirty="0"/>
          </a:p>
        </p:txBody>
      </p:sp>
      <p:sp>
        <p:nvSpPr>
          <p:cNvPr id="18" name="Text 12"/>
          <p:cNvSpPr/>
          <p:nvPr/>
        </p:nvSpPr>
        <p:spPr>
          <a:xfrm>
            <a:off x="6836007" y="3432801"/>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The same thing on every major cloud — learn it once, use it everywhere</a:t>
            </a:r>
            <a:endParaRPr lang="en-US" sz="1300" dirty="0"/>
          </a:p>
        </p:txBody>
      </p:sp>
      <p:sp>
        <p:nvSpPr>
          <p:cNvPr id="19" name="Shape 13"/>
          <p:cNvSpPr/>
          <p:nvPr/>
        </p:nvSpPr>
        <p:spPr>
          <a:xfrm>
            <a:off x="812767" y="4372183"/>
            <a:ext cx="10566467" cy="967658"/>
          </a:xfrm>
          <a:prstGeom prst="roundRect">
            <a:avLst>
              <a:gd name="adj" fmla="val 10500"/>
            </a:avLst>
          </a:prstGeom>
          <a:solidFill>
            <a:srgbClr val="2456C2"/>
          </a:solidFill>
          <a:ln/>
        </p:spPr>
      </p:sp>
      <p:sp>
        <p:nvSpPr>
          <p:cNvPr id="20" name="Text 14"/>
          <p:cNvSpPr/>
          <p:nvPr/>
        </p:nvSpPr>
        <p:spPr>
          <a:xfrm>
            <a:off x="1066767" y="4575364"/>
            <a:ext cx="1036022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Hind Siliguri" pitchFamily="34" charset="0"/>
                <a:ea typeface="Hind Siliguri" pitchFamily="34" charset="-122"/>
                <a:cs typeface="Hind Siliguri" pitchFamily="34" charset="-120"/>
              </a:rPr>
              <a:t>The plan</a:t>
            </a:r>
            <a:endParaRPr lang="en-US" sz="1600" dirty="0"/>
          </a:p>
        </p:txBody>
      </p:sp>
      <p:sp>
        <p:nvSpPr>
          <p:cNvPr id="21" name="Text 15"/>
          <p:cNvSpPr/>
          <p:nvPr/>
        </p:nvSpPr>
        <p:spPr>
          <a:xfrm>
            <a:off x="1066767" y="4869932"/>
            <a:ext cx="10360221" cy="29213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FFFFF"/>
                </a:solidFill>
                <a:latin typeface="Hind Siliguri" pitchFamily="34" charset="0"/>
                <a:ea typeface="Hind Siliguri" pitchFamily="34" charset="-122"/>
                <a:cs typeface="Hind Siliguri" pitchFamily="34" charset="-120"/>
              </a:rPr>
              <a:t>14 phases, 1 hour a day, about 11–12 months · local lab cluster already set up · next: Linux and command-line basics</a:t>
            </a:r>
            <a:endParaRPr lang="en-US" sz="1400" dirty="0"/>
          </a:p>
        </p:txBody>
      </p:sp>
    </p:spTree>
  </p:cSld>
  <p:clrMapOvr>
    <a:masterClrMapping/>
  </p:clrMapOvr>
</p:sld>
</file>

<file path=ppt/theme/theme1.xml><?xml version="1.0" encoding="utf-8"?>
<a:theme xmlns:a="http://schemas.openxmlformats.org/drawingml/2006/main" name="Kubernetes at a Glance">
  <a:themeElements>
    <a:clrScheme name="Kubernetes at a Glance">
      <a:dk1>
        <a:srgbClr val="14213D"/>
      </a:dk1>
      <a:lt1>
        <a:srgbClr val="F7F6F1"/>
      </a:lt1>
      <a:dk2>
        <a:srgbClr val="4D566A"/>
      </a:dk2>
      <a:lt2>
        <a:srgbClr val="E0E1DF"/>
      </a:lt2>
      <a:accent1>
        <a:srgbClr val="2456C2"/>
      </a:accent1>
      <a:accent2>
        <a:srgbClr val="8FB0F2"/>
      </a:accent2>
      <a:accent3>
        <a:srgbClr val="3D4A5C"/>
      </a:accent3>
      <a:accent4>
        <a:srgbClr val="C9D3E6"/>
      </a:accent4>
      <a:accent5>
        <a:srgbClr val="DCE6FA"/>
      </a:accent5>
      <a:accent6>
        <a:srgbClr val="9AA0A6"/>
      </a:accent6>
      <a:hlink>
        <a:srgbClr val="0563C1"/>
      </a:hlink>
      <a:folHlink>
        <a:srgbClr val="954F72"/>
      </a:folHlink>
    </a:clrScheme>
    <a:fontScheme name="Kubernetes at a Glance">
      <a:majorFont>
        <a:latin typeface="Hind Siligu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nd Siligu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at a Glance</dc:title>
  <dc:subject/>
  <dc:creator/>
  <cp:lastModifiedBy/>
  <cp:revision>1</cp:revision>
  <dcterms:created xsi:type="dcterms:W3CDTF">2026-10-14T17:58:52Z</dcterms:created>
  <dcterms:modified xsi:type="dcterms:W3CDTF">2026-10-14T17:58:52Z</dcterms:modified>
</cp:coreProperties>
</file>