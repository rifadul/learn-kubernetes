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শুরুর প্রশ্ন দিয়ে খুলুন: রাত ৩টায় payment callback এর server crash করলে এখন কী হয়? কে জানতে পারে, কতক্ষণে ঠিক হয়? আজ দেখাব Kubernetes এই সমস্যাটা কীভাবে নিজে থেকে সামলায়। মোট ৮ slide, ১০–১২ মিনিট।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সংজ্ঞাটা বলুন, তারপর চারটা কাজ। নিচের সারি হলো মূল ধারণা: আপনি লেখেন কী চান (desired state), Kubernetes সারাক্ষণ বাস্তবের (actual state) সাথে মেলায় আর পার্থক্য থাকলে নিজে ঠিক করে — একে বলে reconciliation। উদাহরণ: AC এর thermostat 24°C এ সেট করলে সে নিজে মেপে ঘর ঠান্ডা রাখে। ইতিহাস: Google এর ভেতরের system থেকে অনুপ্রাণিত হয়ে ২০১৪ সালে open-source; এখন CNCF এর অধীনে, আর AWS (EKS), Google (GKE), Azure (AKS) সহ সব বড় cloud এ managed সেবা হিসেবে পাওয়া যায়।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Thermostat এর উদাহরণ দিন: AC তে 24°C সেট করলে সে বারবার মাপে আর নিজে ঠিক করে। Kubernetes ও YAML এ লেখা অবস্থা (desired state) আর চলমান অবস্থা (actual state) সারাক্ষণ মেলায় — একে বলে reconciliation। table এর প্রথম তিন লাইন আমাদের payment callback এর জন্য সবচেয়ে প্রাসঙ্গিক।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ছোট থেকে বড় ক্রমে বলুন: container → Pod এর ভেতরে → Pod চলে node এ → node মিলে cluster। Deployment ঠিক করে কয়টা Pod, Service তাদের সামনে একটা স্থায়ী ঠিকানা। নিচের লাইনে মনে করিয়ে দিন — সব কিছু YAML এ লেখা হয়, আর kubectl দিয়ে পাঠানো হয়।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প্রতিটা ধাপে এক লাইন বলুন। মূল কথা: আপনি শুধু ধাপ ১ করেন, বাকি ৫টা ধাপ cluster এর আলাদা আলাদা component নিজে থেকে করে। User এর request পরে Service হয়ে যেকোনো সুস্থ Pod এ যায় — Pod কোন node এ আছে user কে জানতে হয় না। শেষে জিজ্ঞেস করুন: একটা worker node মারা গেলে কী হবে? (নিচের তৃতীয় বাক্স)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এটা একটা নমুনা architecture — আমাদের আসল system না, তবে আমাদের কাজের মতোই। প্রতিটা অংশে Kubernetes কী করছে বলুন: payment-gateway এর ৩টা Pod, একটা crash করলে বাকি দুটো চলে আর Kubernetes নতুন একটা আনে (self-healing)। Campaign এর সময় HPA Pod ৩ থেকে ১০ এ বাড়ায় (autoscaling)। নতুন version deploy হয় একটা একটা Pod করে, তাই callback হারায় না (rolling update)। API key থাকে Secret এ, code এ না। Renewal চলে CronJob এ। Database আর payment provider cluster এর বাইরে — DB managed সেবায় রাখাই নিরাপদ।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সৎ থাকুন: Kubernetes সব সমস্যার উত্তর না। একটা ছোট app এ এটা ভারী আর খরচ বাড়ায়। নিয়ম: সমস্যাটা আগে থাকতে হবে, তারপর Kubernetes। পরের slide এ দেখাব আমাদের কাজে কেন সমস্যাটা আসলেই আছে।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শেষ slide। চারটা কারণ আমাদের কাজের সাথে মিলিয়ে বলুন। তৃতীয়টায় জোর দিন: platform team cluster চালালেও নিজের app এর YAML, probe, resource আর CrashLoopBackOff এর মতো সমস্যা বুঝতে না পারলে নিজের app এর সমস্যাই ধরা যায় না। তারপর পরিকল্পনা বলুন, আর প্রশ্ন নিন: আমাদের কোন service টা প্রথমে Kubernetes এ নেওয়ার মতো, আর কেন?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812766"/>
            <a:ext cx="10566467" cy="525749"/>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Hind Siliguri" pitchFamily="34" charset="0"/>
                <a:ea typeface="Hind Siliguri" pitchFamily="34" charset="-122"/>
                <a:cs typeface="Hind Siliguri"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7" y="1643315"/>
            <a:ext cx="10566433" cy="4401885"/>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ind Siliguri" pitchFamily="34" charset="0"/>
                <a:ea typeface="Hind Siliguri" pitchFamily="34" charset="-122"/>
                <a:cs typeface="Hind Siligur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812766"/>
            <a:ext cx="10566467" cy="525749"/>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Hind Siliguri" pitchFamily="34" charset="0"/>
                <a:ea typeface="Hind Siliguri" pitchFamily="34" charset="-122"/>
                <a:cs typeface="Hind Siliguri"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7" y="1643315"/>
            <a:ext cx="10566433" cy="4401885"/>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ind Siliguri" pitchFamily="34" charset="0"/>
                <a:ea typeface="Hind Siliguri" pitchFamily="34" charset="-122"/>
                <a:cs typeface="Hind Siligur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67" y="2282197"/>
            <a:ext cx="10883461" cy="274329"/>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FB0F2"/>
                </a:solidFill>
                <a:latin typeface="Hind Siliguri" pitchFamily="34" charset="0"/>
                <a:ea typeface="Hind Siliguri" pitchFamily="34" charset="-122"/>
                <a:cs typeface="Hind Siliguri" pitchFamily="34" charset="-120"/>
              </a:rPr>
              <a:t>INTEGRATION TEAM · LEARNING SESSION</a:t>
            </a:r>
            <a:endParaRPr lang="en-US" sz="1400" dirty="0"/>
          </a:p>
        </p:txBody>
      </p:sp>
      <p:sp>
        <p:nvSpPr>
          <p:cNvPr id="3" name="Text 1"/>
          <p:cNvSpPr/>
          <p:nvPr>
            <p:ph type="title"/>
          </p:nvPr>
        </p:nvSpPr>
        <p:spPr>
          <a:xfrm>
            <a:off x="812767" y="2734303"/>
            <a:ext cx="10883461" cy="901667"/>
          </a:xfrm>
          <a:prstGeom prst="rect">
            <a:avLst/>
          </a:prstGeom>
          <a:noFill/>
          <a:ln/>
        </p:spPr>
        <p:txBody>
          <a:bodyPr wrap="square" lIns="0" tIns="0" rIns="0" bIns="0" rtlCol="0" anchor="t">
            <a:normAutofit/>
          </a:bodyPr>
          <a:lstStyle/>
          <a:p>
            <a:pPr algn="l" indent="0" marL="0">
              <a:lnSpc>
                <a:spcPts val="6900"/>
              </a:lnSpc>
              <a:buNone/>
            </a:pPr>
            <a:r>
              <a:rPr lang="en-US" sz="6000" b="1" i="0" dirty="0">
                <a:solidFill>
                  <a:srgbClr val="F7F6F1"/>
                </a:solidFill>
                <a:latin typeface="Hind Siliguri" pitchFamily="34" charset="0"/>
                <a:ea typeface="Hind Siliguri" pitchFamily="34" charset="-122"/>
                <a:cs typeface="Hind Siliguri" pitchFamily="34" charset="-120"/>
              </a:rPr>
              <a:t>Kubernetes — এক নজরে</a:t>
            </a:r>
            <a:endParaRPr lang="en-US" sz="6000" dirty="0"/>
          </a:p>
        </p:txBody>
      </p:sp>
      <p:sp>
        <p:nvSpPr>
          <p:cNvPr id="4" name="Text 2"/>
          <p:cNvSpPr/>
          <p:nvPr/>
        </p:nvSpPr>
        <p:spPr>
          <a:xfrm>
            <a:off x="812767" y="3813749"/>
            <a:ext cx="8502651" cy="787400"/>
          </a:xfrm>
          <a:prstGeom prst="rect">
            <a:avLst/>
          </a:prstGeom>
          <a:noFill/>
          <a:ln/>
        </p:spPr>
        <p:txBody>
          <a:bodyPr wrap="square" lIns="0" tIns="0" rIns="0" bIns="0" rtlCol="0" anchor="t">
            <a:normAutofit/>
          </a:bodyPr>
          <a:lstStyle/>
          <a:p>
            <a:pPr algn="l" indent="0" marL="0">
              <a:lnSpc>
                <a:spcPts val="3000"/>
              </a:lnSpc>
              <a:buNone/>
            </a:pPr>
            <a:r>
              <a:rPr lang="en-US" sz="2000" dirty="0">
                <a:solidFill>
                  <a:srgbClr val="C9D3E6"/>
                </a:solidFill>
                <a:latin typeface="Hind Siliguri" pitchFamily="34" charset="0"/>
                <a:ea typeface="Hind Siliguri" pitchFamily="34" charset="-122"/>
                <a:cs typeface="Hind Siliguri" pitchFamily="34" charset="-120"/>
              </a:rPr>
              <a:t>কী, কোন সমস্যা সমাধান করে, কীভাবে কাজ করে, একটা বাস্তব উদাহরণ — আর আমরা কেন শিখছি।</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7"/>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Kubernetes কী?</a:t>
            </a:r>
            <a:endParaRPr lang="en-US" sz="3600" dirty="0"/>
          </a:p>
        </p:txBody>
      </p:sp>
      <p:sp>
        <p:nvSpPr>
          <p:cNvPr id="3" name="Text 1"/>
          <p:cNvSpPr/>
          <p:nvPr/>
        </p:nvSpPr>
        <p:spPr>
          <a:xfrm>
            <a:off x="812767" y="1541694"/>
            <a:ext cx="10464801" cy="634934"/>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4213D"/>
                </a:solidFill>
                <a:latin typeface="Hind Siliguri" pitchFamily="34" charset="0"/>
                <a:ea typeface="Hind Siliguri" pitchFamily="34" charset="-122"/>
                <a:cs typeface="Hind Siliguri" pitchFamily="34" charset="-120"/>
              </a:rPr>
              <a:t>Kubernetes (K8s)</a:t>
            </a:r>
            <a:r>
              <a:rPr lang="en-US" sz="1600" dirty="0">
                <a:solidFill>
                  <a:srgbClr val="3D4A5C"/>
                </a:solidFill>
                <a:latin typeface="Hind Siliguri" pitchFamily="34" charset="0"/>
                <a:ea typeface="Hind Siliguri" pitchFamily="34" charset="-122"/>
                <a:cs typeface="Hind Siliguri" pitchFamily="34" charset="-120"/>
              </a:rPr>
              <a:t> একটা open-source </a:t>
            </a:r>
            <a:r>
              <a:rPr lang="en-US" sz="1600" b="1" dirty="0">
                <a:solidFill>
                  <a:srgbClr val="14213D"/>
                </a:solidFill>
                <a:latin typeface="Hind Siliguri" pitchFamily="34" charset="0"/>
                <a:ea typeface="Hind Siliguri" pitchFamily="34" charset="-122"/>
                <a:cs typeface="Hind Siliguri" pitchFamily="34" charset="-120"/>
              </a:rPr>
              <a:t>container orchestrator</a:t>
            </a:r>
            <a:r>
              <a:rPr lang="en-US" sz="1600" dirty="0">
                <a:solidFill>
                  <a:srgbClr val="3D4A5C"/>
                </a:solidFill>
                <a:latin typeface="Hind Siliguri" pitchFamily="34" charset="0"/>
                <a:ea typeface="Hind Siliguri" pitchFamily="34" charset="-122"/>
                <a:cs typeface="Hind Siliguri" pitchFamily="34" charset="-120"/>
              </a:rPr>
              <a:t> — অনেকগুলো server কে একটা বড় computer এর মতো ব্যবহার করতে দেয়। আপনি বলেন </a:t>
            </a:r>
            <a:r>
              <a:rPr lang="en-US" sz="1600" i="1" dirty="0">
                <a:solidFill>
                  <a:srgbClr val="3D4A5C"/>
                </a:solidFill>
                <a:latin typeface="Hind Siliguri" pitchFamily="34" charset="0"/>
                <a:ea typeface="Hind Siliguri" pitchFamily="34" charset="-122"/>
                <a:cs typeface="Hind Siliguri" pitchFamily="34" charset="-120"/>
              </a:rPr>
              <a:t>কী</a:t>
            </a:r>
            <a:r>
              <a:rPr lang="en-US" sz="1600" dirty="0">
                <a:solidFill>
                  <a:srgbClr val="3D4A5C"/>
                </a:solidFill>
                <a:latin typeface="Hind Siliguri" pitchFamily="34" charset="0"/>
                <a:ea typeface="Hind Siliguri" pitchFamily="34" charset="-122"/>
                <a:cs typeface="Hind Siliguri" pitchFamily="34" charset="-120"/>
              </a:rPr>
              <a:t> চালাতে চান; </a:t>
            </a:r>
            <a:r>
              <a:rPr lang="en-US" sz="1600" i="1" dirty="0">
                <a:solidFill>
                  <a:srgbClr val="3D4A5C"/>
                </a:solidFill>
                <a:latin typeface="Hind Siliguri" pitchFamily="34" charset="0"/>
                <a:ea typeface="Hind Siliguri" pitchFamily="34" charset="-122"/>
                <a:cs typeface="Hind Siliguri" pitchFamily="34" charset="-120"/>
              </a:rPr>
              <a:t>কোথায়</a:t>
            </a:r>
            <a:r>
              <a:rPr lang="en-US" sz="1600" dirty="0">
                <a:solidFill>
                  <a:srgbClr val="3D4A5C"/>
                </a:solidFill>
                <a:latin typeface="Hind Siliguri" pitchFamily="34" charset="0"/>
                <a:ea typeface="Hind Siliguri" pitchFamily="34" charset="-122"/>
                <a:cs typeface="Hind Siliguri" pitchFamily="34" charset="-120"/>
              </a:rPr>
              <a:t> আর </a:t>
            </a:r>
            <a:r>
              <a:rPr lang="en-US" sz="1600" i="1" dirty="0">
                <a:solidFill>
                  <a:srgbClr val="3D4A5C"/>
                </a:solidFill>
                <a:latin typeface="Hind Siliguri" pitchFamily="34" charset="0"/>
                <a:ea typeface="Hind Siliguri" pitchFamily="34" charset="-122"/>
                <a:cs typeface="Hind Siliguri" pitchFamily="34" charset="-120"/>
              </a:rPr>
              <a:t>কীভাবে</a:t>
            </a:r>
            <a:r>
              <a:rPr lang="en-US" sz="1600" dirty="0">
                <a:solidFill>
                  <a:srgbClr val="3D4A5C"/>
                </a:solidFill>
                <a:latin typeface="Hind Siliguri" pitchFamily="34" charset="0"/>
                <a:ea typeface="Hind Siliguri" pitchFamily="34" charset="-122"/>
                <a:cs typeface="Hind Siliguri" pitchFamily="34" charset="-120"/>
              </a:rPr>
              <a:t> চালাবে, সেটা Kubernetes ঠিক করে।</a:t>
            </a:r>
            <a:endParaRPr lang="en-US" sz="1600" dirty="0"/>
          </a:p>
        </p:txBody>
      </p:sp>
      <p:sp>
        <p:nvSpPr>
          <p:cNvPr id="4" name="Shape 2"/>
          <p:cNvSpPr/>
          <p:nvPr/>
        </p:nvSpPr>
        <p:spPr>
          <a:xfrm>
            <a:off x="815942" y="2357581"/>
            <a:ext cx="2520972" cy="1485073"/>
          </a:xfrm>
          <a:prstGeom prst="roundRect">
            <a:avLst>
              <a:gd name="adj" fmla="val 6628"/>
            </a:avLst>
          </a:prstGeom>
          <a:solidFill>
            <a:srgbClr val="FFFFFF"/>
          </a:solidFill>
          <a:ln w="6350">
            <a:solidFill>
              <a:srgbClr val="DCDDD5"/>
            </a:solidFill>
            <a:prstDash val="solid"/>
          </a:ln>
        </p:spPr>
      </p:sp>
      <p:pic>
        <p:nvPicPr>
          <p:cNvPr id="5" name="Image 0" descr="Play">    </p:cNvPr>
          <p:cNvPicPr>
            <a:picLocks noChangeAspect="1"/>
          </p:cNvPicPr>
          <p:nvPr/>
        </p:nvPicPr>
        <p:blipFill>
          <a:blip r:embed="rId1"/>
          <a:srcRect l="0" r="0" t="0" b="0"/>
          <a:stretch/>
        </p:blipFill>
        <p:spPr>
          <a:xfrm>
            <a:off x="994062" y="2535701"/>
            <a:ext cx="279356" cy="279356"/>
          </a:xfrm>
          <a:prstGeom prst="rect">
            <a:avLst/>
          </a:prstGeom>
        </p:spPr>
      </p:pic>
      <p:sp>
        <p:nvSpPr>
          <p:cNvPr id="6" name="Text 3"/>
          <p:cNvSpPr/>
          <p:nvPr/>
        </p:nvSpPr>
        <p:spPr>
          <a:xfrm>
            <a:off x="994062" y="2878557"/>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চালায়</a:t>
            </a:r>
            <a:endParaRPr lang="en-US" sz="1600" dirty="0"/>
          </a:p>
        </p:txBody>
      </p:sp>
      <p:sp>
        <p:nvSpPr>
          <p:cNvPr id="7" name="Text 4"/>
          <p:cNvSpPr/>
          <p:nvPr/>
        </p:nvSpPr>
        <p:spPr>
          <a:xfrm>
            <a:off x="994062" y="3185860"/>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কোন container কোন server এ যাবে, নিজে ঠিক করে</a:t>
            </a:r>
            <a:endParaRPr lang="en-US" sz="1300" dirty="0"/>
          </a:p>
        </p:txBody>
      </p:sp>
      <p:sp>
        <p:nvSpPr>
          <p:cNvPr id="8" name="Shape 5"/>
          <p:cNvSpPr/>
          <p:nvPr/>
        </p:nvSpPr>
        <p:spPr>
          <a:xfrm>
            <a:off x="3495620" y="2357581"/>
            <a:ext cx="2521027" cy="1485073"/>
          </a:xfrm>
          <a:prstGeom prst="roundRect">
            <a:avLst>
              <a:gd name="adj" fmla="val 6628"/>
            </a:avLst>
          </a:prstGeom>
          <a:solidFill>
            <a:srgbClr val="FFFFFF"/>
          </a:solidFill>
          <a:ln w="6350">
            <a:solidFill>
              <a:srgbClr val="DCDDD5"/>
            </a:solidFill>
            <a:prstDash val="solid"/>
          </a:ln>
        </p:spPr>
      </p:sp>
      <p:pic>
        <p:nvPicPr>
          <p:cNvPr id="9" name="Image 1" descr="Search">    </p:cNvPr>
          <p:cNvPicPr>
            <a:picLocks noChangeAspect="1"/>
          </p:cNvPicPr>
          <p:nvPr/>
        </p:nvPicPr>
        <p:blipFill>
          <a:blip r:embed="rId2"/>
          <a:srcRect l="0" r="0" t="0" b="0"/>
          <a:stretch/>
        </p:blipFill>
        <p:spPr>
          <a:xfrm>
            <a:off x="3673740" y="2535701"/>
            <a:ext cx="279356" cy="279356"/>
          </a:xfrm>
          <a:prstGeom prst="rect">
            <a:avLst/>
          </a:prstGeom>
        </p:spPr>
      </p:pic>
      <p:sp>
        <p:nvSpPr>
          <p:cNvPr id="10" name="Text 6"/>
          <p:cNvSpPr/>
          <p:nvPr/>
        </p:nvSpPr>
        <p:spPr>
          <a:xfrm>
            <a:off x="3673740" y="2878557"/>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নজর রাখে</a:t>
            </a:r>
            <a:endParaRPr lang="en-US" sz="1600" dirty="0"/>
          </a:p>
        </p:txBody>
      </p:sp>
      <p:sp>
        <p:nvSpPr>
          <p:cNvPr id="11" name="Text 7"/>
          <p:cNvSpPr/>
          <p:nvPr/>
        </p:nvSpPr>
        <p:spPr>
          <a:xfrm>
            <a:off x="3673740" y="3185860"/>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প্রতিটা container সুস্থ কিনা, সারাক্ষণ দেখে</a:t>
            </a:r>
            <a:endParaRPr lang="en-US" sz="1300" dirty="0"/>
          </a:p>
        </p:txBody>
      </p:sp>
      <p:sp>
        <p:nvSpPr>
          <p:cNvPr id="12" name="Shape 8"/>
          <p:cNvSpPr/>
          <p:nvPr/>
        </p:nvSpPr>
        <p:spPr>
          <a:xfrm>
            <a:off x="6175353" y="2357581"/>
            <a:ext cx="2520972" cy="1485073"/>
          </a:xfrm>
          <a:prstGeom prst="roundRect">
            <a:avLst>
              <a:gd name="adj" fmla="val 6628"/>
            </a:avLst>
          </a:prstGeom>
          <a:solidFill>
            <a:srgbClr val="FFFFFF"/>
          </a:solidFill>
          <a:ln w="6350">
            <a:solidFill>
              <a:srgbClr val="DCDDD5"/>
            </a:solidFill>
            <a:prstDash val="solid"/>
          </a:ln>
        </p:spPr>
      </p:sp>
      <p:pic>
        <p:nvPicPr>
          <p:cNvPr id="13" name="Image 2" descr="Wrench">    </p:cNvPr>
          <p:cNvPicPr>
            <a:picLocks noChangeAspect="1"/>
          </p:cNvPicPr>
          <p:nvPr/>
        </p:nvPicPr>
        <p:blipFill>
          <a:blip r:embed="rId3"/>
          <a:srcRect l="0" r="0" t="0" b="0"/>
          <a:stretch/>
        </p:blipFill>
        <p:spPr>
          <a:xfrm>
            <a:off x="6353473" y="2535701"/>
            <a:ext cx="279356" cy="279356"/>
          </a:xfrm>
          <a:prstGeom prst="rect">
            <a:avLst/>
          </a:prstGeom>
        </p:spPr>
      </p:pic>
      <p:sp>
        <p:nvSpPr>
          <p:cNvPr id="14" name="Text 9"/>
          <p:cNvSpPr/>
          <p:nvPr/>
        </p:nvSpPr>
        <p:spPr>
          <a:xfrm>
            <a:off x="6353473" y="2878557"/>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নিজে ঠিক করে</a:t>
            </a:r>
            <a:endParaRPr lang="en-US" sz="1600" dirty="0"/>
          </a:p>
        </p:txBody>
      </p:sp>
      <p:sp>
        <p:nvSpPr>
          <p:cNvPr id="15" name="Text 10"/>
          <p:cNvSpPr/>
          <p:nvPr/>
        </p:nvSpPr>
        <p:spPr>
          <a:xfrm>
            <a:off x="6353473" y="3185860"/>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crash হলে restart, server মরলে অন্য server এ</a:t>
            </a:r>
            <a:endParaRPr lang="en-US" sz="1300" dirty="0"/>
          </a:p>
        </p:txBody>
      </p:sp>
      <p:sp>
        <p:nvSpPr>
          <p:cNvPr id="16" name="Shape 11"/>
          <p:cNvSpPr/>
          <p:nvPr/>
        </p:nvSpPr>
        <p:spPr>
          <a:xfrm>
            <a:off x="8855032" y="2357581"/>
            <a:ext cx="2521027" cy="1485073"/>
          </a:xfrm>
          <a:prstGeom prst="roundRect">
            <a:avLst>
              <a:gd name="adj" fmla="val 6628"/>
            </a:avLst>
          </a:prstGeom>
          <a:solidFill>
            <a:srgbClr val="FFFFFF"/>
          </a:solidFill>
          <a:ln w="6350">
            <a:solidFill>
              <a:srgbClr val="DCDDD5"/>
            </a:solidFill>
            <a:prstDash val="solid"/>
          </a:ln>
        </p:spPr>
      </p:sp>
      <p:pic>
        <p:nvPicPr>
          <p:cNvPr id="17" name="Image 3" descr="Chart">    </p:cNvPr>
          <p:cNvPicPr>
            <a:picLocks noChangeAspect="1"/>
          </p:cNvPicPr>
          <p:nvPr/>
        </p:nvPicPr>
        <p:blipFill>
          <a:blip r:embed="rId4"/>
          <a:srcRect l="0" r="0" t="0" b="0"/>
          <a:stretch/>
        </p:blipFill>
        <p:spPr>
          <a:xfrm>
            <a:off x="9033151" y="2535701"/>
            <a:ext cx="279356" cy="279356"/>
          </a:xfrm>
          <a:prstGeom prst="rect">
            <a:avLst/>
          </a:prstGeom>
        </p:spPr>
      </p:pic>
      <p:sp>
        <p:nvSpPr>
          <p:cNvPr id="18" name="Text 12"/>
          <p:cNvSpPr/>
          <p:nvPr/>
        </p:nvSpPr>
        <p:spPr>
          <a:xfrm>
            <a:off x="9033151" y="2878557"/>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বাড়ায়-কমায়</a:t>
            </a:r>
            <a:endParaRPr lang="en-US" sz="1600" dirty="0"/>
          </a:p>
        </p:txBody>
      </p:sp>
      <p:sp>
        <p:nvSpPr>
          <p:cNvPr id="19" name="Text 13"/>
          <p:cNvSpPr/>
          <p:nvPr/>
        </p:nvSpPr>
        <p:spPr>
          <a:xfrm>
            <a:off x="9033151" y="3185860"/>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load বাড়লে কপি বাড়ায়, কমলে কমায়</a:t>
            </a:r>
            <a:endParaRPr lang="en-US" sz="1300" dirty="0"/>
          </a:p>
        </p:txBody>
      </p:sp>
      <p:sp>
        <p:nvSpPr>
          <p:cNvPr id="20" name="Shape 14"/>
          <p:cNvSpPr/>
          <p:nvPr/>
        </p:nvSpPr>
        <p:spPr>
          <a:xfrm>
            <a:off x="815942" y="4052182"/>
            <a:ext cx="3230276" cy="788006"/>
          </a:xfrm>
          <a:prstGeom prst="roundRect">
            <a:avLst>
              <a:gd name="adj" fmla="val 12490"/>
            </a:avLst>
          </a:prstGeom>
          <a:solidFill>
            <a:srgbClr val="FFFFFF"/>
          </a:solidFill>
          <a:ln w="6350">
            <a:solidFill>
              <a:srgbClr val="DCDDD5"/>
            </a:solidFill>
            <a:prstDash val="solid"/>
          </a:ln>
        </p:spPr>
      </p:sp>
      <p:sp>
        <p:nvSpPr>
          <p:cNvPr id="21" name="Text 15"/>
          <p:cNvSpPr/>
          <p:nvPr/>
        </p:nvSpPr>
        <p:spPr>
          <a:xfrm>
            <a:off x="968651" y="4204891"/>
            <a:ext cx="3012604"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Desired state</a:t>
            </a:r>
            <a:endParaRPr lang="en-US" sz="1200" dirty="0"/>
          </a:p>
        </p:txBody>
      </p:sp>
      <p:sp>
        <p:nvSpPr>
          <p:cNvPr id="22" name="Text 16"/>
          <p:cNvSpPr/>
          <p:nvPr/>
        </p:nvSpPr>
        <p:spPr>
          <a:xfrm>
            <a:off x="968651" y="4456356"/>
            <a:ext cx="3012604"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Hind Siliguri" pitchFamily="34" charset="0"/>
                <a:ea typeface="Hind Siliguri" pitchFamily="34" charset="-122"/>
                <a:cs typeface="Hind Siliguri" pitchFamily="34" charset="-120"/>
              </a:rPr>
              <a:t>YAML এ লেখা: "api এর ৩টা Pod"</a:t>
            </a:r>
            <a:endParaRPr lang="en-US" sz="1300" dirty="0"/>
          </a:p>
        </p:txBody>
      </p:sp>
      <p:pic>
        <p:nvPicPr>
          <p:cNvPr id="23" name="Image 4" descr="arrow-right">    </p:cNvPr>
          <p:cNvPicPr>
            <a:picLocks noChangeAspect="1"/>
          </p:cNvPicPr>
          <p:nvPr/>
        </p:nvPicPr>
        <p:blipFill>
          <a:blip r:embed="rId5"/>
          <a:srcRect l="-12" r="-12" t="0" b="0"/>
          <a:stretch/>
        </p:blipFill>
        <p:spPr>
          <a:xfrm>
            <a:off x="4150982" y="4389052"/>
            <a:ext cx="228589" cy="114267"/>
          </a:xfrm>
          <a:prstGeom prst="rect">
            <a:avLst/>
          </a:prstGeom>
        </p:spPr>
      </p:pic>
      <p:sp>
        <p:nvSpPr>
          <p:cNvPr id="24" name="Shape 17"/>
          <p:cNvSpPr/>
          <p:nvPr/>
        </p:nvSpPr>
        <p:spPr>
          <a:xfrm>
            <a:off x="4481160" y="4049007"/>
            <a:ext cx="3229626" cy="794356"/>
          </a:xfrm>
          <a:prstGeom prst="roundRect">
            <a:avLst>
              <a:gd name="adj" fmla="val 12790"/>
            </a:avLst>
          </a:prstGeom>
          <a:solidFill>
            <a:srgbClr val="2456C2"/>
          </a:solidFill>
          <a:ln/>
        </p:spPr>
      </p:sp>
      <p:sp>
        <p:nvSpPr>
          <p:cNvPr id="25" name="Text 18"/>
          <p:cNvSpPr/>
          <p:nvPr/>
        </p:nvSpPr>
        <p:spPr>
          <a:xfrm>
            <a:off x="4633516" y="4201364"/>
            <a:ext cx="3012661"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E6FA"/>
                </a:solidFill>
                <a:latin typeface="Hind Siliguri" pitchFamily="34" charset="0"/>
                <a:ea typeface="Hind Siliguri" pitchFamily="34" charset="-122"/>
                <a:cs typeface="Hind Siliguri" pitchFamily="34" charset="-120"/>
              </a:rPr>
              <a:t>Reconciliation</a:t>
            </a:r>
            <a:endParaRPr lang="en-US" sz="1200" dirty="0"/>
          </a:p>
        </p:txBody>
      </p:sp>
      <p:sp>
        <p:nvSpPr>
          <p:cNvPr id="26" name="Text 19"/>
          <p:cNvSpPr/>
          <p:nvPr/>
        </p:nvSpPr>
        <p:spPr>
          <a:xfrm>
            <a:off x="4633516" y="4452827"/>
            <a:ext cx="3012661"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Hind Siliguri" pitchFamily="34" charset="0"/>
                <a:ea typeface="Hind Siliguri" pitchFamily="34" charset="-122"/>
                <a:cs typeface="Hind Siliguri" pitchFamily="34" charset="-120"/>
              </a:rPr>
              <a:t>সারাক্ষণ দুটো মিলিয়ে দেখে</a:t>
            </a:r>
            <a:endParaRPr lang="en-US" sz="1300" dirty="0"/>
          </a:p>
        </p:txBody>
      </p:sp>
      <p:pic>
        <p:nvPicPr>
          <p:cNvPr id="27" name="Image 5" descr="arrow-right">    </p:cNvPr>
          <p:cNvPicPr>
            <a:picLocks noChangeAspect="1"/>
          </p:cNvPicPr>
          <p:nvPr/>
        </p:nvPicPr>
        <p:blipFill>
          <a:blip r:embed="rId6"/>
          <a:srcRect l="-12" r="-12" t="0" b="0"/>
          <a:stretch/>
        </p:blipFill>
        <p:spPr>
          <a:xfrm>
            <a:off x="7812374" y="4389052"/>
            <a:ext cx="228589" cy="114267"/>
          </a:xfrm>
          <a:prstGeom prst="rect">
            <a:avLst/>
          </a:prstGeom>
        </p:spPr>
      </p:pic>
      <p:sp>
        <p:nvSpPr>
          <p:cNvPr id="28" name="Shape 20"/>
          <p:cNvSpPr/>
          <p:nvPr/>
        </p:nvSpPr>
        <p:spPr>
          <a:xfrm>
            <a:off x="8145728" y="4052182"/>
            <a:ext cx="3230331" cy="788006"/>
          </a:xfrm>
          <a:prstGeom prst="roundRect">
            <a:avLst>
              <a:gd name="adj" fmla="val 12490"/>
            </a:avLst>
          </a:prstGeom>
          <a:solidFill>
            <a:srgbClr val="FFFFFF"/>
          </a:solidFill>
          <a:ln w="6350">
            <a:solidFill>
              <a:srgbClr val="DCDDD5"/>
            </a:solidFill>
            <a:prstDash val="solid"/>
          </a:ln>
        </p:spPr>
      </p:sp>
      <p:sp>
        <p:nvSpPr>
          <p:cNvPr id="29" name="Text 21"/>
          <p:cNvSpPr/>
          <p:nvPr/>
        </p:nvSpPr>
        <p:spPr>
          <a:xfrm>
            <a:off x="8298436" y="4204891"/>
            <a:ext cx="3012661"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Actual state</a:t>
            </a:r>
            <a:endParaRPr lang="en-US" sz="1200" dirty="0"/>
          </a:p>
        </p:txBody>
      </p:sp>
      <p:sp>
        <p:nvSpPr>
          <p:cNvPr id="30" name="Text 22"/>
          <p:cNvSpPr/>
          <p:nvPr/>
        </p:nvSpPr>
        <p:spPr>
          <a:xfrm>
            <a:off x="8298436" y="4456356"/>
            <a:ext cx="3012661"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Hind Siliguri" pitchFamily="34" charset="0"/>
                <a:ea typeface="Hind Siliguri" pitchFamily="34" charset="-122"/>
                <a:cs typeface="Hind Siliguri" pitchFamily="34" charset="-120"/>
              </a:rPr>
              <a:t>চলছে ২টা → নিজে ১টা বানায়</a:t>
            </a:r>
            <a:endParaRPr lang="en-US" sz="1300" dirty="0"/>
          </a:p>
        </p:txBody>
      </p:sp>
      <p:sp>
        <p:nvSpPr>
          <p:cNvPr id="31" name="Text 23"/>
          <p:cNvSpPr/>
          <p:nvPr/>
        </p:nvSpPr>
        <p:spPr>
          <a:xfrm>
            <a:off x="812767" y="5046542"/>
            <a:ext cx="10883461" cy="273006"/>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4213D"/>
                </a:solidFill>
                <a:latin typeface="Hind Siliguri" pitchFamily="34" charset="0"/>
                <a:ea typeface="Hind Siliguri" pitchFamily="34" charset="-122"/>
                <a:cs typeface="Hind Siliguri" pitchFamily="34" charset="-120"/>
              </a:rPr>
              <a:t>যা না:</a:t>
            </a:r>
            <a:r>
              <a:rPr lang="en-US" sz="1300" dirty="0">
                <a:solidFill>
                  <a:srgbClr val="3D4A5C"/>
                </a:solidFill>
                <a:latin typeface="Hind Siliguri" pitchFamily="34" charset="0"/>
                <a:ea typeface="Hind Siliguri" pitchFamily="34" charset="-122"/>
                <a:cs typeface="Hind Siliguri" pitchFamily="34" charset="-120"/>
              </a:rPr>
              <a:t> code build করে না, database এর backup নেয় না, PaaS না — এটা container চালানো আর সামলানোর ব্যবস্থা।</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7"/>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Kubernetes কোন সমস্যা সমাধান করে</a:t>
            </a:r>
            <a:endParaRPr lang="en-US" sz="3600" dirty="0"/>
          </a:p>
        </p:txBody>
      </p:sp>
      <p:sp>
        <p:nvSpPr>
          <p:cNvPr id="3" name="Text 1"/>
          <p:cNvSpPr/>
          <p:nvPr/>
        </p:nvSpPr>
        <p:spPr>
          <a:xfrm>
            <a:off x="812767" y="1592517"/>
            <a:ext cx="11379233" cy="330167"/>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3D4A5C"/>
                </a:solidFill>
                <a:latin typeface="Hind Siliguri" pitchFamily="34" charset="0"/>
                <a:ea typeface="Hind Siliguri" pitchFamily="34" charset="-122"/>
                <a:cs typeface="Hind Siliguri" pitchFamily="34" charset="-120"/>
              </a:rPr>
              <a:t>একটা server এ একটা app চালানো সহজ। ঝামেলা শুরু হয় যখন </a:t>
            </a:r>
            <a:r>
              <a:rPr lang="en-US" sz="1600" b="1" dirty="0">
                <a:solidFill>
                  <a:srgbClr val="3D4A5C"/>
                </a:solidFill>
                <a:latin typeface="Hind Siliguri" pitchFamily="34" charset="0"/>
                <a:ea typeface="Hind Siliguri" pitchFamily="34" charset="-122"/>
                <a:cs typeface="Hind Siliguri" pitchFamily="34" charset="-120"/>
              </a:rPr>
              <a:t>অনেক app, অনেক server</a:t>
            </a:r>
            <a:r>
              <a:rPr lang="en-US" sz="1600" dirty="0">
                <a:solidFill>
                  <a:srgbClr val="3D4A5C"/>
                </a:solidFill>
                <a:latin typeface="Hind Siliguri" pitchFamily="34" charset="0"/>
                <a:ea typeface="Hind Siliguri" pitchFamily="34" charset="-122"/>
                <a:cs typeface="Hind Siliguri" pitchFamily="34" charset="-120"/>
              </a:rPr>
              <a:t>, আর রাত ৩টায় কিছু ভেঙে যায়।</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2161868"/>
          <a:ext cx="10555773" cy="2623344"/>
        </p:xfrm>
        <a:graphic>
          <a:graphicData uri="http://schemas.openxmlformats.org/drawingml/2006/table">
            <a:tbl>
              <a:tblPr/>
              <a:tblGrid>
                <a:gridCol w="2744501"/>
                <a:gridCol w="3905636"/>
                <a:gridCol w="3905636"/>
              </a:tblGrid>
              <a:tr h="437224">
                <a:tc>
                  <a:txBody>
                    <a:bodyPr/>
                    <a:lstStyle/>
                    <a:p>
                      <a:pPr indent="0" marL="0">
                        <a:lnSpc>
                          <a:spcPts val="1960"/>
                        </a:lnSpc>
                        <a:buNone/>
                      </a:pPr>
                      <a:r>
                        <a:rPr lang="en-US" sz="1400" b="1" dirty="0">
                          <a:solidFill>
                            <a:srgbClr val="F7F6F1"/>
                          </a:solidFill>
                          <a:latin typeface="Hind Siliguri" pitchFamily="34" charset="0"/>
                          <a:ea typeface="Hind Siliguri" pitchFamily="34" charset="-122"/>
                          <a:cs typeface="Hind Siliguri" pitchFamily="34" charset="-120"/>
                        </a:rPr>
                        <a:t>পরিস্থিতি</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6F1"/>
                          </a:solidFill>
                          <a:latin typeface="Hind Siliguri" pitchFamily="34" charset="0"/>
                          <a:ea typeface="Hind Siliguri" pitchFamily="34" charset="-122"/>
                          <a:cs typeface="Hind Siliguri" pitchFamily="34" charset="-120"/>
                        </a:rPr>
                        <a:t>Kubernetes ছাড়া</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6F1"/>
                          </a:solidFill>
                          <a:latin typeface="Hind Siliguri" pitchFamily="34" charset="0"/>
                          <a:ea typeface="Hind Siliguri" pitchFamily="34" charset="-122"/>
                          <a:cs typeface="Hind Siliguri" pitchFamily="34" charset="-120"/>
                        </a:rPr>
                        <a:t>Kubernetes সহ</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App crash করল</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কেউ alert দেখে হাতে restart</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নিজে restart — self-healing</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Server মারা গেল</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ওই server এর সব app বন্ধ</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BFBDB7"/>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অন্য server এ নতুন কপি চালু</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BFBDB7"/>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হঠাৎ traffic বাড়ল</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হাতে server আর কপি যোগ</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নিজে কপি বাড়ায় — autoscaling</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নতুন version deploy</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বন্ধ করে চালু, মাঝে downtime</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BFBDB7"/>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একে একে বদল — rolling update</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BFBDB7"/>
                      </a:solidFill>
                      <a:prstDash val="solid"/>
                      <a:round/>
                      <a:headEnd type="none" w="med" len="med"/>
                      <a:tailEnd type="none" w="med" len="med"/>
                    </a:lnL>
                    <a:lnR w="12700" cap="flat" cmpd="sng" algn="ctr">
                      <a:solidFill>
                        <a:srgbClr val="BFBDB7"/>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FBDB7"/>
                      </a:solidFill>
                      <a:prstDash val="solid"/>
                      <a:round/>
                      <a:headEnd type="none" w="med" len="med"/>
                      <a:tailEnd type="none" w="med" len="med"/>
                    </a:lnB>
                    <a:solidFill>
                      <a:srgbClr val="EFEDE5"/>
                    </a:solidFill>
                  </a:tcPr>
                </a:tc>
              </a:tr>
              <a:tr h="437224">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নতুন version এ bug</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3D4A5C"/>
                          </a:solidFill>
                          <a:latin typeface="Hind Siliguri" pitchFamily="34" charset="0"/>
                          <a:ea typeface="Hind Siliguri" pitchFamily="34" charset="-122"/>
                          <a:cs typeface="Hind Siliguri" pitchFamily="34" charset="-120"/>
                        </a:rPr>
                        <a:t>পুরনোটা খুঁজে আবার deploy</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Hind Siliguri" pitchFamily="34" charset="0"/>
                          <a:ea typeface="Hind Siliguri" pitchFamily="34" charset="-122"/>
                          <a:cs typeface="Hind Siliguri" pitchFamily="34" charset="-120"/>
                        </a:rPr>
                        <a:t>এক command এ rollback</a:t>
                      </a:r>
                      <a:endParaRPr lang="en-US" sz="1400" dirty="0">
                        <a:latin typeface="Hind Siliguri" charset="0"/>
                        <a:ea typeface="Hind Siliguri" charset="0"/>
                        <a:cs typeface="Hind Siliguri" charset="0"/>
                      </a:endParaRPr>
                    </a:p>
                  </a:txBody>
                  <a:tcPr marL="127000" marR="127000" marT="88900" marB="8890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FBDB7"/>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৮টা শব্দে Kubernetes</a:t>
            </a:r>
            <a:endParaRPr lang="en-US" sz="3600" dirty="0"/>
          </a:p>
        </p:txBody>
      </p:sp>
      <p:sp>
        <p:nvSpPr>
          <p:cNvPr id="3" name="Shape 1"/>
          <p:cNvSpPr/>
          <p:nvPr/>
        </p:nvSpPr>
        <p:spPr>
          <a:xfrm>
            <a:off x="815942" y="1595690"/>
            <a:ext cx="2520972" cy="1393627"/>
          </a:xfrm>
          <a:prstGeom prst="roundRect">
            <a:avLst>
              <a:gd name="adj" fmla="val 7063"/>
            </a:avLst>
          </a:prstGeom>
          <a:solidFill>
            <a:srgbClr val="FFFFFF"/>
          </a:solidFill>
          <a:ln w="6350">
            <a:solidFill>
              <a:srgbClr val="DCDDD5"/>
            </a:solidFill>
            <a:prstDash val="solid"/>
          </a:ln>
        </p:spPr>
      </p:sp>
      <p:sp>
        <p:nvSpPr>
          <p:cNvPr id="4" name="Text 2"/>
          <p:cNvSpPr/>
          <p:nvPr/>
        </p:nvSpPr>
        <p:spPr>
          <a:xfrm>
            <a:off x="994062" y="1773810"/>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Container</a:t>
            </a:r>
            <a:endParaRPr lang="en-US" sz="1600" dirty="0"/>
          </a:p>
        </p:txBody>
      </p:sp>
      <p:sp>
        <p:nvSpPr>
          <p:cNvPr id="5" name="Text 3"/>
          <p:cNvSpPr/>
          <p:nvPr/>
        </p:nvSpPr>
        <p:spPr>
          <a:xfrm>
            <a:off x="994062" y="2068379"/>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app আর তার সব দরকারি জিনিস একসাথে, আলাদা করে চলে</a:t>
            </a:r>
            <a:endParaRPr lang="en-US" sz="1300" dirty="0"/>
          </a:p>
        </p:txBody>
      </p:sp>
      <p:sp>
        <p:nvSpPr>
          <p:cNvPr id="6" name="Text 4"/>
          <p:cNvSpPr/>
          <p:nvPr/>
        </p:nvSpPr>
        <p:spPr>
          <a:xfrm>
            <a:off x="994062" y="2597821"/>
            <a:ext cx="2229675"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Node.js API</a:t>
            </a:r>
            <a:endParaRPr lang="en-US" sz="1200" dirty="0"/>
          </a:p>
        </p:txBody>
      </p:sp>
      <p:sp>
        <p:nvSpPr>
          <p:cNvPr id="7" name="Shape 5"/>
          <p:cNvSpPr/>
          <p:nvPr/>
        </p:nvSpPr>
        <p:spPr>
          <a:xfrm>
            <a:off x="3495620" y="1595690"/>
            <a:ext cx="2521027" cy="1393627"/>
          </a:xfrm>
          <a:prstGeom prst="roundRect">
            <a:avLst>
              <a:gd name="adj" fmla="val 7063"/>
            </a:avLst>
          </a:prstGeom>
          <a:solidFill>
            <a:srgbClr val="FFFFFF"/>
          </a:solidFill>
          <a:ln w="6350">
            <a:solidFill>
              <a:srgbClr val="DCDDD5"/>
            </a:solidFill>
            <a:prstDash val="solid"/>
          </a:ln>
        </p:spPr>
      </p:sp>
      <p:sp>
        <p:nvSpPr>
          <p:cNvPr id="8" name="Text 6"/>
          <p:cNvSpPr/>
          <p:nvPr/>
        </p:nvSpPr>
        <p:spPr>
          <a:xfrm>
            <a:off x="3673740" y="1773810"/>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Image</a:t>
            </a:r>
            <a:endParaRPr lang="en-US" sz="1600" dirty="0"/>
          </a:p>
        </p:txBody>
      </p:sp>
      <p:sp>
        <p:nvSpPr>
          <p:cNvPr id="9" name="Text 7"/>
          <p:cNvSpPr/>
          <p:nvPr/>
        </p:nvSpPr>
        <p:spPr>
          <a:xfrm>
            <a:off x="3673740" y="2068379"/>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container এর ছাঁচ, একবার বানিয়ে বারবার চালানো</a:t>
            </a:r>
            <a:endParaRPr lang="en-US" sz="1300" dirty="0"/>
          </a:p>
        </p:txBody>
      </p:sp>
      <p:sp>
        <p:nvSpPr>
          <p:cNvPr id="10" name="Text 8"/>
          <p:cNvSpPr/>
          <p:nvPr/>
        </p:nvSpPr>
        <p:spPr>
          <a:xfrm>
            <a:off x="3673740" y="2597821"/>
            <a:ext cx="2229731"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subtrack-api:1.0</a:t>
            </a:r>
            <a:endParaRPr lang="en-US" sz="1200" dirty="0"/>
          </a:p>
        </p:txBody>
      </p:sp>
      <p:sp>
        <p:nvSpPr>
          <p:cNvPr id="11" name="Shape 9"/>
          <p:cNvSpPr/>
          <p:nvPr/>
        </p:nvSpPr>
        <p:spPr>
          <a:xfrm>
            <a:off x="6175353" y="1595690"/>
            <a:ext cx="2520972" cy="1393627"/>
          </a:xfrm>
          <a:prstGeom prst="roundRect">
            <a:avLst>
              <a:gd name="adj" fmla="val 7063"/>
            </a:avLst>
          </a:prstGeom>
          <a:solidFill>
            <a:srgbClr val="FFFFFF"/>
          </a:solidFill>
          <a:ln w="6350">
            <a:solidFill>
              <a:srgbClr val="DCDDD5"/>
            </a:solidFill>
            <a:prstDash val="solid"/>
          </a:ln>
        </p:spPr>
      </p:sp>
      <p:sp>
        <p:nvSpPr>
          <p:cNvPr id="12" name="Text 10"/>
          <p:cNvSpPr/>
          <p:nvPr/>
        </p:nvSpPr>
        <p:spPr>
          <a:xfrm>
            <a:off x="6353473" y="1773810"/>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Node</a:t>
            </a:r>
            <a:endParaRPr lang="en-US" sz="1600" dirty="0"/>
          </a:p>
        </p:txBody>
      </p:sp>
      <p:sp>
        <p:nvSpPr>
          <p:cNvPr id="13" name="Text 11"/>
          <p:cNvSpPr/>
          <p:nvPr/>
        </p:nvSpPr>
        <p:spPr>
          <a:xfrm>
            <a:off x="6353473" y="2068379"/>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একটা machine (server বা VM), যেখানে container চলে</a:t>
            </a:r>
            <a:endParaRPr lang="en-US" sz="1300" dirty="0"/>
          </a:p>
        </p:txBody>
      </p:sp>
      <p:sp>
        <p:nvSpPr>
          <p:cNvPr id="14" name="Text 12"/>
          <p:cNvSpPr/>
          <p:nvPr/>
        </p:nvSpPr>
        <p:spPr>
          <a:xfrm>
            <a:off x="6353473" y="2597821"/>
            <a:ext cx="2229675"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worker-1</a:t>
            </a:r>
            <a:endParaRPr lang="en-US" sz="1200" dirty="0"/>
          </a:p>
        </p:txBody>
      </p:sp>
      <p:sp>
        <p:nvSpPr>
          <p:cNvPr id="15" name="Shape 13"/>
          <p:cNvSpPr/>
          <p:nvPr/>
        </p:nvSpPr>
        <p:spPr>
          <a:xfrm>
            <a:off x="8855032" y="1595690"/>
            <a:ext cx="2521027" cy="1393627"/>
          </a:xfrm>
          <a:prstGeom prst="roundRect">
            <a:avLst>
              <a:gd name="adj" fmla="val 7063"/>
            </a:avLst>
          </a:prstGeom>
          <a:solidFill>
            <a:srgbClr val="FFFFFF"/>
          </a:solidFill>
          <a:ln w="6350">
            <a:solidFill>
              <a:srgbClr val="DCDDD5"/>
            </a:solidFill>
            <a:prstDash val="solid"/>
          </a:ln>
        </p:spPr>
      </p:sp>
      <p:sp>
        <p:nvSpPr>
          <p:cNvPr id="16" name="Text 14"/>
          <p:cNvSpPr/>
          <p:nvPr/>
        </p:nvSpPr>
        <p:spPr>
          <a:xfrm>
            <a:off x="9033151" y="1773810"/>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Cluster</a:t>
            </a:r>
            <a:endParaRPr lang="en-US" sz="1600" dirty="0"/>
          </a:p>
        </p:txBody>
      </p:sp>
      <p:sp>
        <p:nvSpPr>
          <p:cNvPr id="17" name="Text 15"/>
          <p:cNvSpPr/>
          <p:nvPr/>
        </p:nvSpPr>
        <p:spPr>
          <a:xfrm>
            <a:off x="9033151" y="2068379"/>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control plane (মস্তিষ্ক) আর সব node মিলে পুরো ব্যবস্থা</a:t>
            </a:r>
            <a:endParaRPr lang="en-US" sz="1300" dirty="0"/>
          </a:p>
        </p:txBody>
      </p:sp>
      <p:sp>
        <p:nvSpPr>
          <p:cNvPr id="18" name="Text 16"/>
          <p:cNvSpPr/>
          <p:nvPr/>
        </p:nvSpPr>
        <p:spPr>
          <a:xfrm>
            <a:off x="9033151" y="2597821"/>
            <a:ext cx="2229731"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kind-subtrack-lab</a:t>
            </a:r>
            <a:endParaRPr lang="en-US" sz="1200" dirty="0"/>
          </a:p>
        </p:txBody>
      </p:sp>
      <p:sp>
        <p:nvSpPr>
          <p:cNvPr id="19" name="Shape 17"/>
          <p:cNvSpPr/>
          <p:nvPr/>
        </p:nvSpPr>
        <p:spPr>
          <a:xfrm>
            <a:off x="815942" y="3148023"/>
            <a:ext cx="2520972" cy="1393627"/>
          </a:xfrm>
          <a:prstGeom prst="roundRect">
            <a:avLst>
              <a:gd name="adj" fmla="val 7063"/>
            </a:avLst>
          </a:prstGeom>
          <a:solidFill>
            <a:srgbClr val="FFFFFF"/>
          </a:solidFill>
          <a:ln w="6350">
            <a:solidFill>
              <a:srgbClr val="DCDDD5"/>
            </a:solidFill>
            <a:prstDash val="solid"/>
          </a:ln>
        </p:spPr>
      </p:sp>
      <p:sp>
        <p:nvSpPr>
          <p:cNvPr id="20" name="Text 18"/>
          <p:cNvSpPr/>
          <p:nvPr/>
        </p:nvSpPr>
        <p:spPr>
          <a:xfrm>
            <a:off x="994062" y="3326143"/>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Pod</a:t>
            </a:r>
            <a:endParaRPr lang="en-US" sz="1600" dirty="0"/>
          </a:p>
        </p:txBody>
      </p:sp>
      <p:sp>
        <p:nvSpPr>
          <p:cNvPr id="21" name="Text 19"/>
          <p:cNvSpPr/>
          <p:nvPr/>
        </p:nvSpPr>
        <p:spPr>
          <a:xfrm>
            <a:off x="994062" y="3620712"/>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সবচেয়ে ছোট একক — container এর মোড়ক, নিজের IP সহ</a:t>
            </a:r>
            <a:endParaRPr lang="en-US" sz="1300" dirty="0"/>
          </a:p>
        </p:txBody>
      </p:sp>
      <p:sp>
        <p:nvSpPr>
          <p:cNvPr id="22" name="Text 20"/>
          <p:cNvSpPr/>
          <p:nvPr/>
        </p:nvSpPr>
        <p:spPr>
          <a:xfrm>
            <a:off x="994062" y="4150154"/>
            <a:ext cx="2229675"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api এর একটা কপি</a:t>
            </a:r>
            <a:endParaRPr lang="en-US" sz="1200" dirty="0"/>
          </a:p>
        </p:txBody>
      </p:sp>
      <p:sp>
        <p:nvSpPr>
          <p:cNvPr id="23" name="Shape 21"/>
          <p:cNvSpPr/>
          <p:nvPr/>
        </p:nvSpPr>
        <p:spPr>
          <a:xfrm>
            <a:off x="3495620" y="3148023"/>
            <a:ext cx="2521027" cy="1393627"/>
          </a:xfrm>
          <a:prstGeom prst="roundRect">
            <a:avLst>
              <a:gd name="adj" fmla="val 7063"/>
            </a:avLst>
          </a:prstGeom>
          <a:solidFill>
            <a:srgbClr val="FFFFFF"/>
          </a:solidFill>
          <a:ln w="6350">
            <a:solidFill>
              <a:srgbClr val="DCDDD5"/>
            </a:solidFill>
            <a:prstDash val="solid"/>
          </a:ln>
        </p:spPr>
      </p:sp>
      <p:sp>
        <p:nvSpPr>
          <p:cNvPr id="24" name="Text 22"/>
          <p:cNvSpPr/>
          <p:nvPr/>
        </p:nvSpPr>
        <p:spPr>
          <a:xfrm>
            <a:off x="3673740" y="3326143"/>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Deployment</a:t>
            </a:r>
            <a:endParaRPr lang="en-US" sz="1600" dirty="0"/>
          </a:p>
        </p:txBody>
      </p:sp>
      <p:sp>
        <p:nvSpPr>
          <p:cNvPr id="25" name="Text 23"/>
          <p:cNvSpPr/>
          <p:nvPr/>
        </p:nvSpPr>
        <p:spPr>
          <a:xfrm>
            <a:off x="3673740" y="3620712"/>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N টা কপি সবসময় রাখো, নিরাপদে version বদলাও</a:t>
            </a:r>
            <a:endParaRPr lang="en-US" sz="1300" dirty="0"/>
          </a:p>
        </p:txBody>
      </p:sp>
      <p:sp>
        <p:nvSpPr>
          <p:cNvPr id="26" name="Text 24"/>
          <p:cNvSpPr/>
          <p:nvPr/>
        </p:nvSpPr>
        <p:spPr>
          <a:xfrm>
            <a:off x="3673740" y="4150154"/>
            <a:ext cx="2229731"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replicas: 3</a:t>
            </a:r>
            <a:endParaRPr lang="en-US" sz="1200" dirty="0"/>
          </a:p>
        </p:txBody>
      </p:sp>
      <p:sp>
        <p:nvSpPr>
          <p:cNvPr id="27" name="Shape 25"/>
          <p:cNvSpPr/>
          <p:nvPr/>
        </p:nvSpPr>
        <p:spPr>
          <a:xfrm>
            <a:off x="6175353" y="3148023"/>
            <a:ext cx="2520972" cy="1393627"/>
          </a:xfrm>
          <a:prstGeom prst="roundRect">
            <a:avLst>
              <a:gd name="adj" fmla="val 7063"/>
            </a:avLst>
          </a:prstGeom>
          <a:solidFill>
            <a:srgbClr val="FFFFFF"/>
          </a:solidFill>
          <a:ln w="6350">
            <a:solidFill>
              <a:srgbClr val="DCDDD5"/>
            </a:solidFill>
            <a:prstDash val="solid"/>
          </a:ln>
        </p:spPr>
      </p:sp>
      <p:sp>
        <p:nvSpPr>
          <p:cNvPr id="28" name="Text 26"/>
          <p:cNvSpPr/>
          <p:nvPr/>
        </p:nvSpPr>
        <p:spPr>
          <a:xfrm>
            <a:off x="6353473" y="3326143"/>
            <a:ext cx="2229675"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Service</a:t>
            </a:r>
            <a:endParaRPr lang="en-US" sz="1600" dirty="0"/>
          </a:p>
        </p:txBody>
      </p:sp>
      <p:sp>
        <p:nvSpPr>
          <p:cNvPr id="29" name="Text 27"/>
          <p:cNvSpPr/>
          <p:nvPr/>
        </p:nvSpPr>
        <p:spPr>
          <a:xfrm>
            <a:off x="6353473" y="3620712"/>
            <a:ext cx="2229675"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Pod বদলালেও স্থায়ী নাম আর ঠিকানা</a:t>
            </a:r>
            <a:endParaRPr lang="en-US" sz="1300" dirty="0"/>
          </a:p>
        </p:txBody>
      </p:sp>
      <p:sp>
        <p:nvSpPr>
          <p:cNvPr id="30" name="Text 28"/>
          <p:cNvSpPr/>
          <p:nvPr/>
        </p:nvSpPr>
        <p:spPr>
          <a:xfrm>
            <a:off x="6353473" y="4150154"/>
            <a:ext cx="2229675"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http://api</a:t>
            </a:r>
            <a:endParaRPr lang="en-US" sz="1200" dirty="0"/>
          </a:p>
        </p:txBody>
      </p:sp>
      <p:sp>
        <p:nvSpPr>
          <p:cNvPr id="31" name="Shape 29"/>
          <p:cNvSpPr/>
          <p:nvPr/>
        </p:nvSpPr>
        <p:spPr>
          <a:xfrm>
            <a:off x="8855032" y="3148023"/>
            <a:ext cx="2521027" cy="1393627"/>
          </a:xfrm>
          <a:prstGeom prst="roundRect">
            <a:avLst>
              <a:gd name="adj" fmla="val 7063"/>
            </a:avLst>
          </a:prstGeom>
          <a:solidFill>
            <a:srgbClr val="FFFFFF"/>
          </a:solidFill>
          <a:ln w="6350">
            <a:solidFill>
              <a:srgbClr val="DCDDD5"/>
            </a:solidFill>
            <a:prstDash val="solid"/>
          </a:ln>
        </p:spPr>
      </p:sp>
      <p:sp>
        <p:nvSpPr>
          <p:cNvPr id="32" name="Text 30"/>
          <p:cNvSpPr/>
          <p:nvPr/>
        </p:nvSpPr>
        <p:spPr>
          <a:xfrm>
            <a:off x="9033151" y="3326143"/>
            <a:ext cx="222973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56C2"/>
                </a:solidFill>
                <a:latin typeface="Hind Siliguri" pitchFamily="34" charset="0"/>
                <a:ea typeface="Hind Siliguri" pitchFamily="34" charset="-122"/>
                <a:cs typeface="Hind Siliguri" pitchFamily="34" charset="-120"/>
              </a:rPr>
              <a:t>Namespace</a:t>
            </a:r>
            <a:endParaRPr lang="en-US" sz="1600" dirty="0"/>
          </a:p>
        </p:txBody>
      </p:sp>
      <p:sp>
        <p:nvSpPr>
          <p:cNvPr id="33" name="Text 31"/>
          <p:cNvSpPr/>
          <p:nvPr/>
        </p:nvSpPr>
        <p:spPr>
          <a:xfrm>
            <a:off x="9033151" y="3620712"/>
            <a:ext cx="2229731"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C"/>
                </a:solidFill>
                <a:latin typeface="Hind Siliguri" pitchFamily="34" charset="0"/>
                <a:ea typeface="Hind Siliguri" pitchFamily="34" charset="-122"/>
                <a:cs typeface="Hind Siliguri" pitchFamily="34" charset="-120"/>
              </a:rPr>
              <a:t>cluster এর ভেতরে আলাদা ঘর — dev, prod আলাদা</a:t>
            </a:r>
            <a:endParaRPr lang="en-US" sz="1300" dirty="0"/>
          </a:p>
        </p:txBody>
      </p:sp>
      <p:sp>
        <p:nvSpPr>
          <p:cNvPr id="34" name="Text 32"/>
          <p:cNvSpPr/>
          <p:nvPr/>
        </p:nvSpPr>
        <p:spPr>
          <a:xfrm>
            <a:off x="9033151" y="4150154"/>
            <a:ext cx="2229731"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subtrack-dev</a:t>
            </a:r>
            <a:endParaRPr lang="en-US" sz="1200" dirty="0"/>
          </a:p>
        </p:txBody>
      </p:sp>
      <p:sp>
        <p:nvSpPr>
          <p:cNvPr id="35" name="Text 33"/>
          <p:cNvSpPr/>
          <p:nvPr/>
        </p:nvSpPr>
        <p:spPr>
          <a:xfrm>
            <a:off x="812767" y="4798825"/>
            <a:ext cx="10883461" cy="292133"/>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C"/>
                </a:solidFill>
                <a:latin typeface="Hind Siliguri" pitchFamily="34" charset="0"/>
                <a:ea typeface="Hind Siliguri" pitchFamily="34" charset="-122"/>
                <a:cs typeface="Hind Siliguri" pitchFamily="34" charset="-120"/>
              </a:rPr>
              <a:t>আর দুটো হাতিয়ার: </a:t>
            </a:r>
            <a:r>
              <a:rPr lang="en-US" sz="1400" b="1" dirty="0">
                <a:solidFill>
                  <a:srgbClr val="3D4A5C"/>
                </a:solidFill>
                <a:latin typeface="Hind Siliguri" pitchFamily="34" charset="0"/>
                <a:ea typeface="Hind Siliguri" pitchFamily="34" charset="-122"/>
                <a:cs typeface="Hind Siliguri" pitchFamily="34" charset="-120"/>
              </a:rPr>
              <a:t>YAML</a:t>
            </a:r>
            <a:r>
              <a:rPr lang="en-US" sz="1400" dirty="0">
                <a:solidFill>
                  <a:srgbClr val="3D4A5C"/>
                </a:solidFill>
                <a:latin typeface="Hind Siliguri" pitchFamily="34" charset="0"/>
                <a:ea typeface="Hind Siliguri" pitchFamily="34" charset="-122"/>
                <a:cs typeface="Hind Siliguri" pitchFamily="34" charset="-120"/>
              </a:rPr>
              <a:t> — যে file এ "কী চাই" লেখেন · </a:t>
            </a:r>
            <a:r>
              <a:rPr lang="en-US" sz="1400" b="1" dirty="0">
                <a:solidFill>
                  <a:srgbClr val="3D4A5C"/>
                </a:solidFill>
                <a:latin typeface="Hind Siliguri" pitchFamily="34" charset="0"/>
                <a:ea typeface="Hind Siliguri" pitchFamily="34" charset="-122"/>
                <a:cs typeface="Hind Siliguri" pitchFamily="34" charset="-120"/>
              </a:rPr>
              <a:t>kubectl</a:t>
            </a:r>
            <a:r>
              <a:rPr lang="en-US" sz="1400" dirty="0">
                <a:solidFill>
                  <a:srgbClr val="3D4A5C"/>
                </a:solidFill>
                <a:latin typeface="Hind Siliguri" pitchFamily="34" charset="0"/>
                <a:ea typeface="Hind Siliguri" pitchFamily="34" charset="-122"/>
                <a:cs typeface="Hind Siliguri" pitchFamily="34" charset="-120"/>
              </a:rPr>
              <a:t> — cluster কে নির্দেশ দেওয়ার command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6"/>
        </a:solidFill>
      </p:bgPr>
    </p:bg>
    <p:spTree>
      <p:nvGrpSpPr>
        <p:cNvPr id="1" name=""/>
        <p:cNvGrpSpPr/>
        <p:nvPr/>
      </p:nvGrpSpPr>
      <p:grpSpPr>
        <a:xfrm>
          <a:off x="0" y="0"/>
          <a:ext cx="0" cy="0"/>
          <a:chOff x="0" y="0"/>
          <a:chExt cx="0" cy="0"/>
        </a:xfrm>
      </p:grpSpPr>
      <p:sp>
        <p:nvSpPr>
          <p:cNvPr id="2" name="Text 0"/>
          <p:cNvSpPr/>
          <p:nvPr>
            <p:ph type="title"/>
          </p:nvPr>
        </p:nvSpPr>
        <p:spPr>
          <a:xfrm>
            <a:off x="812767" y="812769"/>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আপনি YAML পাঠান, বাকিটা cluster করে</a:t>
            </a:r>
            <a:endParaRPr lang="en-US" sz="3600" dirty="0"/>
          </a:p>
        </p:txBody>
      </p:sp>
      <p:sp>
        <p:nvSpPr>
          <p:cNvPr id="3" name="Shape 1"/>
          <p:cNvSpPr/>
          <p:nvPr/>
        </p:nvSpPr>
        <p:spPr>
          <a:xfrm>
            <a:off x="815942" y="1646461"/>
            <a:ext cx="1477246" cy="1289778"/>
          </a:xfrm>
          <a:prstGeom prst="roundRect">
            <a:avLst>
              <a:gd name="adj" fmla="val 7631"/>
            </a:avLst>
          </a:prstGeom>
          <a:solidFill>
            <a:srgbClr val="FFFFFF"/>
          </a:solidFill>
          <a:ln w="6350">
            <a:solidFill>
              <a:srgbClr val="CDD4E0"/>
            </a:solidFill>
            <a:prstDash val="solid"/>
          </a:ln>
        </p:spPr>
      </p:sp>
      <p:sp>
        <p:nvSpPr>
          <p:cNvPr id="4" name="Text 2"/>
          <p:cNvSpPr/>
          <p:nvPr/>
        </p:nvSpPr>
        <p:spPr>
          <a:xfrm>
            <a:off x="968651" y="1799168"/>
            <a:ext cx="1222629"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০১</a:t>
            </a:r>
            <a:endParaRPr lang="en-US" sz="1200" dirty="0"/>
          </a:p>
        </p:txBody>
      </p:sp>
      <p:sp>
        <p:nvSpPr>
          <p:cNvPr id="5" name="Text 3"/>
          <p:cNvSpPr/>
          <p:nvPr/>
        </p:nvSpPr>
        <p:spPr>
          <a:xfrm>
            <a:off x="968651" y="2063310"/>
            <a:ext cx="1222629"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kubectl apply</a:t>
            </a:r>
            <a:endParaRPr lang="en-US" sz="1400" dirty="0"/>
          </a:p>
        </p:txBody>
      </p:sp>
      <p:sp>
        <p:nvSpPr>
          <p:cNvPr id="6" name="Text 4"/>
          <p:cNvSpPr/>
          <p:nvPr/>
        </p:nvSpPr>
        <p:spPr>
          <a:xfrm>
            <a:off x="968651" y="2327452"/>
            <a:ext cx="1222629"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YAML cluster এ পাঠায়</a:t>
            </a:r>
            <a:endParaRPr lang="en-US" sz="1200" dirty="0"/>
          </a:p>
        </p:txBody>
      </p:sp>
      <p:pic>
        <p:nvPicPr>
          <p:cNvPr id="7" name="Image 0" descr="arrow-right">    </p:cNvPr>
          <p:cNvPicPr>
            <a:picLocks noChangeAspect="1"/>
          </p:cNvPicPr>
          <p:nvPr/>
        </p:nvPicPr>
        <p:blipFill>
          <a:blip r:embed="rId1"/>
          <a:srcRect l="0" r="0" t="-4" b="-4"/>
          <a:stretch/>
        </p:blipFill>
        <p:spPr>
          <a:xfrm>
            <a:off x="2372541" y="2240527"/>
            <a:ext cx="177767" cy="101589"/>
          </a:xfrm>
          <a:prstGeom prst="rect">
            <a:avLst/>
          </a:prstGeom>
        </p:spPr>
      </p:pic>
      <p:sp>
        <p:nvSpPr>
          <p:cNvPr id="8" name="Shape 5"/>
          <p:cNvSpPr/>
          <p:nvPr/>
        </p:nvSpPr>
        <p:spPr>
          <a:xfrm>
            <a:off x="2629661" y="1646461"/>
            <a:ext cx="1477301" cy="1289778"/>
          </a:xfrm>
          <a:prstGeom prst="roundRect">
            <a:avLst>
              <a:gd name="adj" fmla="val 7631"/>
            </a:avLst>
          </a:prstGeom>
          <a:solidFill>
            <a:srgbClr val="FFFFFF"/>
          </a:solidFill>
          <a:ln w="6350">
            <a:solidFill>
              <a:srgbClr val="CDD4E0"/>
            </a:solidFill>
            <a:prstDash val="solid"/>
          </a:ln>
        </p:spPr>
      </p:sp>
      <p:sp>
        <p:nvSpPr>
          <p:cNvPr id="9" name="Text 6"/>
          <p:cNvSpPr/>
          <p:nvPr/>
        </p:nvSpPr>
        <p:spPr>
          <a:xfrm>
            <a:off x="2782370" y="1799168"/>
            <a:ext cx="1222684"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০২</a:t>
            </a:r>
            <a:endParaRPr lang="en-US" sz="1200" dirty="0"/>
          </a:p>
        </p:txBody>
      </p:sp>
      <p:sp>
        <p:nvSpPr>
          <p:cNvPr id="10" name="Text 7"/>
          <p:cNvSpPr/>
          <p:nvPr/>
        </p:nvSpPr>
        <p:spPr>
          <a:xfrm>
            <a:off x="2782370" y="2063310"/>
            <a:ext cx="1222684"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API server</a:t>
            </a:r>
            <a:endParaRPr lang="en-US" sz="1400" dirty="0"/>
          </a:p>
        </p:txBody>
      </p:sp>
      <p:sp>
        <p:nvSpPr>
          <p:cNvPr id="11" name="Text 8"/>
          <p:cNvSpPr/>
          <p:nvPr/>
        </p:nvSpPr>
        <p:spPr>
          <a:xfrm>
            <a:off x="2782370" y="2327452"/>
            <a:ext cx="1222684"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যাচাই করে etcd এ রাখে</a:t>
            </a:r>
            <a:endParaRPr lang="en-US" sz="1200" dirty="0"/>
          </a:p>
        </p:txBody>
      </p:sp>
      <p:pic>
        <p:nvPicPr>
          <p:cNvPr id="12" name="Image 1" descr="arrow-right">    </p:cNvPr>
          <p:cNvPicPr>
            <a:picLocks noChangeAspect="1"/>
          </p:cNvPicPr>
          <p:nvPr/>
        </p:nvPicPr>
        <p:blipFill>
          <a:blip r:embed="rId2"/>
          <a:srcRect l="0" r="0" t="-4" b="-4"/>
          <a:stretch/>
        </p:blipFill>
        <p:spPr>
          <a:xfrm>
            <a:off x="4186315" y="2240527"/>
            <a:ext cx="177767" cy="101589"/>
          </a:xfrm>
          <a:prstGeom prst="rect">
            <a:avLst/>
          </a:prstGeom>
        </p:spPr>
      </p:pic>
      <p:sp>
        <p:nvSpPr>
          <p:cNvPr id="13" name="Shape 9"/>
          <p:cNvSpPr/>
          <p:nvPr/>
        </p:nvSpPr>
        <p:spPr>
          <a:xfrm>
            <a:off x="4443435" y="1646461"/>
            <a:ext cx="1477246" cy="1289778"/>
          </a:xfrm>
          <a:prstGeom prst="roundRect">
            <a:avLst>
              <a:gd name="adj" fmla="val 7631"/>
            </a:avLst>
          </a:prstGeom>
          <a:solidFill>
            <a:srgbClr val="FFFFFF"/>
          </a:solidFill>
          <a:ln w="6350">
            <a:solidFill>
              <a:srgbClr val="CDD4E0"/>
            </a:solidFill>
            <a:prstDash val="solid"/>
          </a:ln>
        </p:spPr>
      </p:sp>
      <p:sp>
        <p:nvSpPr>
          <p:cNvPr id="14" name="Text 10"/>
          <p:cNvSpPr/>
          <p:nvPr/>
        </p:nvSpPr>
        <p:spPr>
          <a:xfrm>
            <a:off x="4596143" y="1799168"/>
            <a:ext cx="1222629"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০৩</a:t>
            </a:r>
            <a:endParaRPr lang="en-US" sz="1200" dirty="0"/>
          </a:p>
        </p:txBody>
      </p:sp>
      <p:sp>
        <p:nvSpPr>
          <p:cNvPr id="15" name="Text 11"/>
          <p:cNvSpPr/>
          <p:nvPr/>
        </p:nvSpPr>
        <p:spPr>
          <a:xfrm>
            <a:off x="4596143" y="2063310"/>
            <a:ext cx="1222629"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Controllers</a:t>
            </a:r>
            <a:endParaRPr lang="en-US" sz="1400" dirty="0"/>
          </a:p>
        </p:txBody>
      </p:sp>
      <p:sp>
        <p:nvSpPr>
          <p:cNvPr id="16" name="Text 12"/>
          <p:cNvSpPr/>
          <p:nvPr/>
        </p:nvSpPr>
        <p:spPr>
          <a:xfrm>
            <a:off x="4596143" y="2327452"/>
            <a:ext cx="1222629"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দেখে ৩টা Pod দরকার, বানায়</a:t>
            </a:r>
            <a:endParaRPr lang="en-US" sz="1200" dirty="0"/>
          </a:p>
        </p:txBody>
      </p:sp>
      <p:pic>
        <p:nvPicPr>
          <p:cNvPr id="17" name="Image 2" descr="arrow-right">    </p:cNvPr>
          <p:cNvPicPr>
            <a:picLocks noChangeAspect="1"/>
          </p:cNvPicPr>
          <p:nvPr/>
        </p:nvPicPr>
        <p:blipFill>
          <a:blip r:embed="rId3"/>
          <a:srcRect l="0" r="0" t="-4" b="-4"/>
          <a:stretch/>
        </p:blipFill>
        <p:spPr>
          <a:xfrm>
            <a:off x="6000034" y="2240527"/>
            <a:ext cx="177767" cy="101589"/>
          </a:xfrm>
          <a:prstGeom prst="rect">
            <a:avLst/>
          </a:prstGeom>
        </p:spPr>
      </p:pic>
      <p:sp>
        <p:nvSpPr>
          <p:cNvPr id="18" name="Shape 13"/>
          <p:cNvSpPr/>
          <p:nvPr/>
        </p:nvSpPr>
        <p:spPr>
          <a:xfrm>
            <a:off x="6257154" y="1646461"/>
            <a:ext cx="1477301" cy="1289778"/>
          </a:xfrm>
          <a:prstGeom prst="roundRect">
            <a:avLst>
              <a:gd name="adj" fmla="val 7631"/>
            </a:avLst>
          </a:prstGeom>
          <a:solidFill>
            <a:srgbClr val="FFFFFF"/>
          </a:solidFill>
          <a:ln w="6350">
            <a:solidFill>
              <a:srgbClr val="CDD4E0"/>
            </a:solidFill>
            <a:prstDash val="solid"/>
          </a:ln>
        </p:spPr>
      </p:sp>
      <p:sp>
        <p:nvSpPr>
          <p:cNvPr id="19" name="Text 14"/>
          <p:cNvSpPr/>
          <p:nvPr/>
        </p:nvSpPr>
        <p:spPr>
          <a:xfrm>
            <a:off x="6409862" y="1799168"/>
            <a:ext cx="1222684"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০৪</a:t>
            </a:r>
            <a:endParaRPr lang="en-US" sz="1200" dirty="0"/>
          </a:p>
        </p:txBody>
      </p:sp>
      <p:sp>
        <p:nvSpPr>
          <p:cNvPr id="20" name="Text 15"/>
          <p:cNvSpPr/>
          <p:nvPr/>
        </p:nvSpPr>
        <p:spPr>
          <a:xfrm>
            <a:off x="6409862" y="2063310"/>
            <a:ext cx="1222684"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Scheduler</a:t>
            </a:r>
            <a:endParaRPr lang="en-US" sz="1400" dirty="0"/>
          </a:p>
        </p:txBody>
      </p:sp>
      <p:sp>
        <p:nvSpPr>
          <p:cNvPr id="21" name="Text 16"/>
          <p:cNvSpPr/>
          <p:nvPr/>
        </p:nvSpPr>
        <p:spPr>
          <a:xfrm>
            <a:off x="6409862" y="2327452"/>
            <a:ext cx="1222684"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প্রতিটা Pod এর জন্য node বাছে</a:t>
            </a:r>
            <a:endParaRPr lang="en-US" sz="1200" dirty="0"/>
          </a:p>
        </p:txBody>
      </p:sp>
      <p:pic>
        <p:nvPicPr>
          <p:cNvPr id="22" name="Image 3" descr="arrow-right">    </p:cNvPr>
          <p:cNvPicPr>
            <a:picLocks noChangeAspect="1"/>
          </p:cNvPicPr>
          <p:nvPr/>
        </p:nvPicPr>
        <p:blipFill>
          <a:blip r:embed="rId4"/>
          <a:srcRect l="0" r="0" t="-4" b="-4"/>
          <a:stretch/>
        </p:blipFill>
        <p:spPr>
          <a:xfrm>
            <a:off x="7813808" y="2240527"/>
            <a:ext cx="177767" cy="101589"/>
          </a:xfrm>
          <a:prstGeom prst="rect">
            <a:avLst/>
          </a:prstGeom>
        </p:spPr>
      </p:pic>
      <p:sp>
        <p:nvSpPr>
          <p:cNvPr id="23" name="Shape 17"/>
          <p:cNvSpPr/>
          <p:nvPr/>
        </p:nvSpPr>
        <p:spPr>
          <a:xfrm>
            <a:off x="8070928" y="1646461"/>
            <a:ext cx="1477246" cy="1289778"/>
          </a:xfrm>
          <a:prstGeom prst="roundRect">
            <a:avLst>
              <a:gd name="adj" fmla="val 7631"/>
            </a:avLst>
          </a:prstGeom>
          <a:solidFill>
            <a:srgbClr val="FFFFFF"/>
          </a:solidFill>
          <a:ln w="6350">
            <a:solidFill>
              <a:srgbClr val="CDD4E0"/>
            </a:solidFill>
            <a:prstDash val="solid"/>
          </a:ln>
        </p:spPr>
      </p:sp>
      <p:sp>
        <p:nvSpPr>
          <p:cNvPr id="24" name="Text 18"/>
          <p:cNvSpPr/>
          <p:nvPr/>
        </p:nvSpPr>
        <p:spPr>
          <a:xfrm>
            <a:off x="8223636" y="1799168"/>
            <a:ext cx="1222629"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০৫</a:t>
            </a:r>
            <a:endParaRPr lang="en-US" sz="1200" dirty="0"/>
          </a:p>
        </p:txBody>
      </p:sp>
      <p:sp>
        <p:nvSpPr>
          <p:cNvPr id="25" name="Text 19"/>
          <p:cNvSpPr/>
          <p:nvPr/>
        </p:nvSpPr>
        <p:spPr>
          <a:xfrm>
            <a:off x="8223636" y="2063310"/>
            <a:ext cx="1222629"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kubelet</a:t>
            </a:r>
            <a:endParaRPr lang="en-US" sz="1400" dirty="0"/>
          </a:p>
        </p:txBody>
      </p:sp>
      <p:sp>
        <p:nvSpPr>
          <p:cNvPr id="26" name="Text 20"/>
          <p:cNvSpPr/>
          <p:nvPr/>
        </p:nvSpPr>
        <p:spPr>
          <a:xfrm>
            <a:off x="8223636" y="2327452"/>
            <a:ext cx="1222629"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Hind Siliguri" pitchFamily="34" charset="0"/>
                <a:ea typeface="Hind Siliguri" pitchFamily="34" charset="-122"/>
                <a:cs typeface="Hind Siliguri" pitchFamily="34" charset="-120"/>
              </a:rPr>
              <a:t>image এনে container চালায়</a:t>
            </a:r>
            <a:endParaRPr lang="en-US" sz="1200" dirty="0"/>
          </a:p>
        </p:txBody>
      </p:sp>
      <p:pic>
        <p:nvPicPr>
          <p:cNvPr id="27" name="Image 4" descr="arrow-right">    </p:cNvPr>
          <p:cNvPicPr>
            <a:picLocks noChangeAspect="1"/>
          </p:cNvPicPr>
          <p:nvPr/>
        </p:nvPicPr>
        <p:blipFill>
          <a:blip r:embed="rId5"/>
          <a:srcRect l="0" r="0" t="-4" b="-4"/>
          <a:stretch/>
        </p:blipFill>
        <p:spPr>
          <a:xfrm>
            <a:off x="9627526" y="2240527"/>
            <a:ext cx="177767" cy="101589"/>
          </a:xfrm>
          <a:prstGeom prst="rect">
            <a:avLst/>
          </a:prstGeom>
        </p:spPr>
      </p:pic>
      <p:sp>
        <p:nvSpPr>
          <p:cNvPr id="28" name="Shape 21"/>
          <p:cNvSpPr/>
          <p:nvPr/>
        </p:nvSpPr>
        <p:spPr>
          <a:xfrm>
            <a:off x="9887821" y="1649636"/>
            <a:ext cx="1485062" cy="1283428"/>
          </a:xfrm>
          <a:prstGeom prst="roundRect">
            <a:avLst>
              <a:gd name="adj" fmla="val 7422"/>
            </a:avLst>
          </a:prstGeom>
          <a:solidFill>
            <a:srgbClr val="DCE6FA"/>
          </a:solidFill>
          <a:ln w="12700">
            <a:solidFill>
              <a:srgbClr val="2456C2"/>
            </a:solidFill>
            <a:prstDash val="solid"/>
          </a:ln>
        </p:spPr>
      </p:sp>
      <p:sp>
        <p:nvSpPr>
          <p:cNvPr id="29" name="Text 22"/>
          <p:cNvSpPr/>
          <p:nvPr/>
        </p:nvSpPr>
        <p:spPr>
          <a:xfrm>
            <a:off x="10044411" y="1806225"/>
            <a:ext cx="1222684" cy="23877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6C2"/>
                </a:solidFill>
                <a:latin typeface="Hind Siliguri" pitchFamily="34" charset="0"/>
                <a:ea typeface="Hind Siliguri" pitchFamily="34" charset="-122"/>
                <a:cs typeface="Hind Siliguri" pitchFamily="34" charset="-120"/>
              </a:rPr>
              <a:t>০৬</a:t>
            </a:r>
            <a:endParaRPr lang="en-US" sz="1200" dirty="0"/>
          </a:p>
        </p:txBody>
      </p:sp>
      <p:sp>
        <p:nvSpPr>
          <p:cNvPr id="30" name="Text 23"/>
          <p:cNvSpPr/>
          <p:nvPr/>
        </p:nvSpPr>
        <p:spPr>
          <a:xfrm>
            <a:off x="10044411" y="2070367"/>
            <a:ext cx="1222684"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Hind Siliguri" pitchFamily="34" charset="0"/>
                <a:ea typeface="Hind Siliguri" pitchFamily="34" charset="-122"/>
                <a:cs typeface="Hind Siliguri" pitchFamily="34" charset="-120"/>
              </a:rPr>
              <a:t>Pod Ready</a:t>
            </a:r>
            <a:endParaRPr lang="en-US" sz="1400" dirty="0"/>
          </a:p>
        </p:txBody>
      </p:sp>
      <p:sp>
        <p:nvSpPr>
          <p:cNvPr id="31" name="Text 24"/>
          <p:cNvSpPr/>
          <p:nvPr/>
        </p:nvSpPr>
        <p:spPr>
          <a:xfrm>
            <a:off x="10044411" y="2334509"/>
            <a:ext cx="1222684" cy="46736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13D"/>
                </a:solidFill>
                <a:latin typeface="Hind Siliguri" pitchFamily="34" charset="0"/>
                <a:ea typeface="Hind Siliguri" pitchFamily="34" charset="-122"/>
                <a:cs typeface="Hind Siliguri" pitchFamily="34" charset="-120"/>
              </a:rPr>
              <a:t>Service এখন traffic পাঠায়</a:t>
            </a:r>
            <a:endParaRPr lang="en-US" sz="1200" dirty="0"/>
          </a:p>
        </p:txBody>
      </p:sp>
      <p:sp>
        <p:nvSpPr>
          <p:cNvPr id="32" name="Shape 25"/>
          <p:cNvSpPr/>
          <p:nvPr/>
        </p:nvSpPr>
        <p:spPr>
          <a:xfrm>
            <a:off x="812767" y="3244180"/>
            <a:ext cx="10566467" cy="1394409"/>
          </a:xfrm>
          <a:prstGeom prst="roundRect">
            <a:avLst>
              <a:gd name="adj" fmla="val 7286"/>
            </a:avLst>
          </a:prstGeom>
          <a:solidFill>
            <a:srgbClr val="14213D"/>
          </a:solidFill>
          <a:ln/>
        </p:spPr>
      </p:sp>
      <p:sp>
        <p:nvSpPr>
          <p:cNvPr id="33" name="Text 26"/>
          <p:cNvSpPr/>
          <p:nvPr/>
        </p:nvSpPr>
        <p:spPr>
          <a:xfrm>
            <a:off x="1066767" y="3498180"/>
            <a:ext cx="1036022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Deploy এর পরেও মেলানো থামে না</a:t>
            </a:r>
            <a:endParaRPr lang="en-US" sz="1600" dirty="0"/>
          </a:p>
        </p:txBody>
      </p:sp>
      <p:sp>
        <p:nvSpPr>
          <p:cNvPr id="34" name="Text 27"/>
          <p:cNvSpPr/>
          <p:nvPr/>
        </p:nvSpPr>
        <p:spPr>
          <a:xfrm>
            <a:off x="1066767" y="3868982"/>
            <a:ext cx="3313853" cy="54100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7F6F1"/>
                </a:solidFill>
                <a:latin typeface="Hind Siliguri" pitchFamily="34" charset="0"/>
                <a:ea typeface="Hind Siliguri" pitchFamily="34" charset="-122"/>
                <a:cs typeface="Hind Siliguri" pitchFamily="34" charset="-120"/>
              </a:rPr>
              <a:t>Container crash</a:t>
            </a:r>
            <a:r>
              <a:rPr lang="en-US" sz="1400" dirty="0">
                <a:solidFill>
                  <a:srgbClr val="C9D3E6"/>
                </a:solidFill>
                <a:latin typeface="Hind Siliguri" pitchFamily="34" charset="0"/>
                <a:ea typeface="Hind Siliguri" pitchFamily="34" charset="-122"/>
                <a:cs typeface="Hind Siliguri" pitchFamily="34" charset="-120"/>
              </a:rPr>
              <a:t> → kubelet নিজে restart করে</a:t>
            </a:r>
            <a:endParaRPr lang="en-US" sz="1400" dirty="0"/>
          </a:p>
        </p:txBody>
      </p:sp>
      <p:sp>
        <p:nvSpPr>
          <p:cNvPr id="35" name="Text 28"/>
          <p:cNvSpPr/>
          <p:nvPr/>
        </p:nvSpPr>
        <p:spPr>
          <a:xfrm>
            <a:off x="4487278" y="3868982"/>
            <a:ext cx="3313910" cy="54100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7F6F1"/>
                </a:solidFill>
                <a:latin typeface="Hind Siliguri" pitchFamily="34" charset="0"/>
                <a:ea typeface="Hind Siliguri" pitchFamily="34" charset="-122"/>
                <a:cs typeface="Hind Siliguri" pitchFamily="34" charset="-120"/>
              </a:rPr>
              <a:t>Pod হারালে</a:t>
            </a:r>
            <a:r>
              <a:rPr lang="en-US" sz="1400" dirty="0">
                <a:solidFill>
                  <a:srgbClr val="C9D3E6"/>
                </a:solidFill>
                <a:latin typeface="Hind Siliguri" pitchFamily="34" charset="0"/>
                <a:ea typeface="Hind Siliguri" pitchFamily="34" charset="-122"/>
                <a:cs typeface="Hind Siliguri" pitchFamily="34" charset="-120"/>
              </a:rPr>
              <a:t> → controller নতুন বানায়</a:t>
            </a:r>
            <a:endParaRPr lang="en-US" sz="1400" dirty="0"/>
          </a:p>
        </p:txBody>
      </p:sp>
      <p:sp>
        <p:nvSpPr>
          <p:cNvPr id="36" name="Text 29"/>
          <p:cNvSpPr/>
          <p:nvPr/>
        </p:nvSpPr>
        <p:spPr>
          <a:xfrm>
            <a:off x="7907845" y="3868982"/>
            <a:ext cx="3313910" cy="541007"/>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7F6F1"/>
                </a:solidFill>
                <a:latin typeface="Hind Siliguri" pitchFamily="34" charset="0"/>
                <a:ea typeface="Hind Siliguri" pitchFamily="34" charset="-122"/>
                <a:cs typeface="Hind Siliguri" pitchFamily="34" charset="-120"/>
              </a:rPr>
              <a:t>Node মারা গেলে</a:t>
            </a:r>
            <a:r>
              <a:rPr lang="en-US" sz="1400" dirty="0">
                <a:solidFill>
                  <a:srgbClr val="C9D3E6"/>
                </a:solidFill>
                <a:latin typeface="Hind Siliguri" pitchFamily="34" charset="0"/>
                <a:ea typeface="Hind Siliguri" pitchFamily="34" charset="-122"/>
                <a:cs typeface="Hind Siliguri" pitchFamily="34" charset="-120"/>
              </a:rPr>
              <a:t> → কয়েক মিনিটে অন্য node এ</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বাস্তব উদাহরণ: subscription payment</a:t>
            </a:r>
            <a:endParaRPr lang="en-US" sz="3600" dirty="0"/>
          </a:p>
        </p:txBody>
      </p:sp>
      <p:pic>
        <p:nvPicPr>
          <p:cNvPr id="3" name="Image 0" descr="Subscription payment flow on Kubernetes: user, gateway, payment-gateway service, payment provider, callback, queue, worker, database and a renewal CronJob">    </p:cNvPr>
          <p:cNvPicPr>
            <a:picLocks noChangeAspect="1"/>
          </p:cNvPicPr>
          <p:nvPr/>
        </p:nvPicPr>
        <p:blipFill>
          <a:blip r:embed="rId1"/>
          <a:srcRect l="0" r="0" t="-17" b="-17"/>
          <a:stretch/>
        </p:blipFill>
        <p:spPr>
          <a:xfrm>
            <a:off x="812767" y="1541692"/>
            <a:ext cx="10566357" cy="3556000"/>
          </a:xfrm>
          <a:prstGeom prst="rect">
            <a:avLst/>
          </a:prstGeom>
        </p:spPr>
      </p:pic>
      <p:sp>
        <p:nvSpPr>
          <p:cNvPr id="4" name="Text 1"/>
          <p:cNvSpPr/>
          <p:nvPr/>
        </p:nvSpPr>
        <p:spPr>
          <a:xfrm>
            <a:off x="812767" y="5300870"/>
            <a:ext cx="10883461" cy="520612"/>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4213D"/>
                </a:solidFill>
                <a:latin typeface="Hind Siliguri" pitchFamily="34" charset="0"/>
                <a:ea typeface="Hind Siliguri" pitchFamily="34" charset="-122"/>
                <a:cs typeface="Hind Siliguri" pitchFamily="34" charset="-120"/>
              </a:rPr>
              <a:t>1</a:t>
            </a:r>
            <a:r>
              <a:rPr lang="en-US" sz="1300" dirty="0">
                <a:solidFill>
                  <a:srgbClr val="3D4A5C"/>
                </a:solidFill>
                <a:latin typeface="Hind Siliguri" pitchFamily="34" charset="0"/>
                <a:ea typeface="Hind Siliguri" pitchFamily="34" charset="-122"/>
                <a:cs typeface="Hind Siliguri" pitchFamily="34" charset="-120"/>
              </a:rPr>
              <a:t> user subscribe করে → </a:t>
            </a:r>
            <a:r>
              <a:rPr lang="en-US" sz="1300" b="1" dirty="0">
                <a:solidFill>
                  <a:srgbClr val="14213D"/>
                </a:solidFill>
                <a:latin typeface="Hind Siliguri" pitchFamily="34" charset="0"/>
                <a:ea typeface="Hind Siliguri" pitchFamily="34" charset="-122"/>
                <a:cs typeface="Hind Siliguri" pitchFamily="34" charset="-120"/>
              </a:rPr>
              <a:t>2</a:t>
            </a:r>
            <a:r>
              <a:rPr lang="en-US" sz="1300" dirty="0">
                <a:solidFill>
                  <a:srgbClr val="3D4A5C"/>
                </a:solidFill>
                <a:latin typeface="Hind Siliguri" pitchFamily="34" charset="0"/>
                <a:ea typeface="Hind Siliguri" pitchFamily="34" charset="-122"/>
                <a:cs typeface="Hind Siliguri" pitchFamily="34" charset="-120"/>
              </a:rPr>
              <a:t> Gateway (HTTPS) → </a:t>
            </a:r>
            <a:r>
              <a:rPr lang="en-US" sz="1300" b="1" dirty="0">
                <a:solidFill>
                  <a:srgbClr val="14213D"/>
                </a:solidFill>
                <a:latin typeface="Hind Siliguri" pitchFamily="34" charset="0"/>
                <a:ea typeface="Hind Siliguri" pitchFamily="34" charset="-122"/>
                <a:cs typeface="Hind Siliguri" pitchFamily="34" charset="-120"/>
              </a:rPr>
              <a:t>3</a:t>
            </a:r>
            <a:r>
              <a:rPr lang="en-US" sz="1300" dirty="0">
                <a:solidFill>
                  <a:srgbClr val="3D4A5C"/>
                </a:solidFill>
                <a:latin typeface="Hind Siliguri" pitchFamily="34" charset="0"/>
                <a:ea typeface="Hind Siliguri" pitchFamily="34" charset="-122"/>
                <a:cs typeface="Hind Siliguri" pitchFamily="34" charset="-120"/>
              </a:rPr>
              <a:t> payment-gateway provider কে charge পাঠায় → </a:t>
            </a:r>
            <a:r>
              <a:rPr lang="en-US" sz="1300" b="1" dirty="0">
                <a:solidFill>
                  <a:srgbClr val="14213D"/>
                </a:solidFill>
                <a:latin typeface="Hind Siliguri" pitchFamily="34" charset="0"/>
                <a:ea typeface="Hind Siliguri" pitchFamily="34" charset="-122"/>
                <a:cs typeface="Hind Siliguri" pitchFamily="34" charset="-120"/>
              </a:rPr>
              <a:t>4</a:t>
            </a:r>
            <a:r>
              <a:rPr lang="en-US" sz="1300" dirty="0">
                <a:solidFill>
                  <a:srgbClr val="3D4A5C"/>
                </a:solidFill>
                <a:latin typeface="Hind Siliguri" pitchFamily="34" charset="0"/>
                <a:ea typeface="Hind Siliguri" pitchFamily="34" charset="-122"/>
                <a:cs typeface="Hind Siliguri" pitchFamily="34" charset="-120"/>
              </a:rPr>
              <a:t> callback ফেরে → </a:t>
            </a:r>
            <a:r>
              <a:rPr lang="en-US" sz="1300" b="1" dirty="0">
                <a:solidFill>
                  <a:srgbClr val="14213D"/>
                </a:solidFill>
                <a:latin typeface="Hind Siliguri" pitchFamily="34" charset="0"/>
                <a:ea typeface="Hind Siliguri" pitchFamily="34" charset="-122"/>
                <a:cs typeface="Hind Siliguri" pitchFamily="34" charset="-120"/>
              </a:rPr>
              <a:t>5</a:t>
            </a:r>
            <a:r>
              <a:rPr lang="en-US" sz="1300" dirty="0">
                <a:solidFill>
                  <a:srgbClr val="3D4A5C"/>
                </a:solidFill>
                <a:latin typeface="Hind Siliguri" pitchFamily="34" charset="0"/>
                <a:ea typeface="Hind Siliguri" pitchFamily="34" charset="-122"/>
                <a:cs typeface="Hind Siliguri" pitchFamily="34" charset="-120"/>
              </a:rPr>
              <a:t> queue তে রাখে → </a:t>
            </a:r>
            <a:r>
              <a:rPr lang="en-US" sz="1300" b="1" dirty="0">
                <a:solidFill>
                  <a:srgbClr val="14213D"/>
                </a:solidFill>
                <a:latin typeface="Hind Siliguri" pitchFamily="34" charset="0"/>
                <a:ea typeface="Hind Siliguri" pitchFamily="34" charset="-122"/>
                <a:cs typeface="Hind Siliguri" pitchFamily="34" charset="-120"/>
              </a:rPr>
              <a:t>6</a:t>
            </a:r>
            <a:r>
              <a:rPr lang="en-US" sz="1300" dirty="0">
                <a:solidFill>
                  <a:srgbClr val="3D4A5C"/>
                </a:solidFill>
                <a:latin typeface="Hind Siliguri" pitchFamily="34" charset="0"/>
                <a:ea typeface="Hind Siliguri" pitchFamily="34" charset="-122"/>
                <a:cs typeface="Hind Siliguri" pitchFamily="34" charset="-120"/>
              </a:rPr>
              <a:t> worker নেয় → </a:t>
            </a:r>
            <a:r>
              <a:rPr lang="en-US" sz="1300" b="1" dirty="0">
                <a:solidFill>
                  <a:srgbClr val="14213D"/>
                </a:solidFill>
                <a:latin typeface="Hind Siliguri" pitchFamily="34" charset="0"/>
                <a:ea typeface="Hind Siliguri" pitchFamily="34" charset="-122"/>
                <a:cs typeface="Hind Siliguri" pitchFamily="34" charset="-120"/>
              </a:rPr>
              <a:t>7</a:t>
            </a:r>
            <a:r>
              <a:rPr lang="en-US" sz="1300" dirty="0">
                <a:solidFill>
                  <a:srgbClr val="3D4A5C"/>
                </a:solidFill>
                <a:latin typeface="Hind Siliguri" pitchFamily="34" charset="0"/>
                <a:ea typeface="Hind Siliguri" pitchFamily="34" charset="-122"/>
                <a:cs typeface="Hind Siliguri" pitchFamily="34" charset="-120"/>
              </a:rPr>
              <a:t> DB তে লেখে · </a:t>
            </a:r>
            <a:r>
              <a:rPr lang="en-US" sz="1300" b="1" dirty="0">
                <a:solidFill>
                  <a:srgbClr val="14213D"/>
                </a:solidFill>
                <a:latin typeface="Hind Siliguri" pitchFamily="34" charset="0"/>
                <a:ea typeface="Hind Siliguri" pitchFamily="34" charset="-122"/>
                <a:cs typeface="Hind Siliguri" pitchFamily="34" charset="-120"/>
              </a:rPr>
              <a:t>8</a:t>
            </a:r>
            <a:r>
              <a:rPr lang="en-US" sz="1300" dirty="0">
                <a:solidFill>
                  <a:srgbClr val="3D4A5C"/>
                </a:solidFill>
                <a:latin typeface="Hind Siliguri" pitchFamily="34" charset="0"/>
                <a:ea typeface="Hind Siliguri" pitchFamily="34" charset="-122"/>
                <a:cs typeface="Hind Siliguri" pitchFamily="34" charset="-120"/>
              </a:rPr>
              <a:t> প্রতি রাতে renewal CronJob। কমলা = cluster এর বাইরে।</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Hind Siliguri" pitchFamily="34" charset="0"/>
                <a:ea typeface="Hind Siliguri" pitchFamily="34" charset="-122"/>
                <a:cs typeface="Hind Siliguri" pitchFamily="34" charset="-120"/>
              </a:rPr>
              <a:t>কখন নেবেন, কখন নয়</a:t>
            </a:r>
            <a:endParaRPr lang="en-US" sz="3600" dirty="0"/>
          </a:p>
        </p:txBody>
      </p:sp>
      <p:sp>
        <p:nvSpPr>
          <p:cNvPr id="3" name="Shape 1"/>
          <p:cNvSpPr/>
          <p:nvPr/>
        </p:nvSpPr>
        <p:spPr>
          <a:xfrm>
            <a:off x="815942" y="1595689"/>
            <a:ext cx="3414216" cy="1717466"/>
          </a:xfrm>
          <a:prstGeom prst="roundRect">
            <a:avLst>
              <a:gd name="adj" fmla="val 5731"/>
            </a:avLst>
          </a:prstGeom>
          <a:solidFill>
            <a:srgbClr val="FFFFFF"/>
          </a:solidFill>
          <a:ln w="6350">
            <a:solidFill>
              <a:srgbClr val="DCDDD5"/>
            </a:solidFill>
            <a:prstDash val="solid"/>
          </a:ln>
        </p:spPr>
      </p:sp>
      <p:sp>
        <p:nvSpPr>
          <p:cNvPr id="4" name="Text 2"/>
          <p:cNvSpPr/>
          <p:nvPr/>
        </p:nvSpPr>
        <p:spPr>
          <a:xfrm>
            <a:off x="1019473" y="1799220"/>
            <a:ext cx="3097370"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ভালো খাটে</a:t>
            </a:r>
            <a:endParaRPr lang="en-US" sz="1600" dirty="0"/>
          </a:p>
        </p:txBody>
      </p:sp>
      <p:sp>
        <p:nvSpPr>
          <p:cNvPr id="5" name="Text 3"/>
          <p:cNvSpPr/>
          <p:nvPr/>
        </p:nvSpPr>
        <p:spPr>
          <a:xfrm>
            <a:off x="1098467" y="2119201"/>
            <a:ext cx="3010756" cy="1015824"/>
          </a:xfrm>
          <a:prstGeom prst="rect">
            <a:avLst/>
          </a:prstGeom>
          <a:noFill/>
          <a:ln/>
        </p:spPr>
        <p:txBody>
          <a:bodyPr wrap="square" lIns="0" tIns="0" rIns="0" bIns="0" rtlCol="0" anchor="t">
            <a:normAutofit/>
          </a:bodyPr>
          <a:lstStyle/>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অনেকগুলো service</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traffic ওঠানামা করে</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downtime চলে না</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ঘনঘন release</a:t>
            </a:r>
            <a:endParaRPr lang="en-US" sz="1300" dirty="0"/>
          </a:p>
        </p:txBody>
      </p:sp>
      <p:sp>
        <p:nvSpPr>
          <p:cNvPr id="6" name="Shape 4"/>
          <p:cNvSpPr/>
          <p:nvPr/>
        </p:nvSpPr>
        <p:spPr>
          <a:xfrm>
            <a:off x="4388864" y="1595689"/>
            <a:ext cx="3414216" cy="1717466"/>
          </a:xfrm>
          <a:prstGeom prst="roundRect">
            <a:avLst>
              <a:gd name="adj" fmla="val 5731"/>
            </a:avLst>
          </a:prstGeom>
          <a:solidFill>
            <a:srgbClr val="FFFFFF"/>
          </a:solidFill>
          <a:ln w="6350">
            <a:solidFill>
              <a:srgbClr val="DCDDD5"/>
            </a:solidFill>
            <a:prstDash val="solid"/>
          </a:ln>
        </p:spPr>
      </p:sp>
      <p:sp>
        <p:nvSpPr>
          <p:cNvPr id="7" name="Text 5"/>
          <p:cNvSpPr/>
          <p:nvPr/>
        </p:nvSpPr>
        <p:spPr>
          <a:xfrm>
            <a:off x="4592395" y="1799220"/>
            <a:ext cx="3097370"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দাম (trade-off)</a:t>
            </a:r>
            <a:endParaRPr lang="en-US" sz="1600" dirty="0"/>
          </a:p>
        </p:txBody>
      </p:sp>
      <p:sp>
        <p:nvSpPr>
          <p:cNvPr id="8" name="Text 6"/>
          <p:cNvSpPr/>
          <p:nvPr/>
        </p:nvSpPr>
        <p:spPr>
          <a:xfrm>
            <a:off x="4671389" y="2119201"/>
            <a:ext cx="3010756" cy="1015824"/>
          </a:xfrm>
          <a:prstGeom prst="rect">
            <a:avLst/>
          </a:prstGeom>
          <a:noFill/>
          <a:ln/>
        </p:spPr>
        <p:txBody>
          <a:bodyPr wrap="square" lIns="0" tIns="0" rIns="0" bIns="0" rtlCol="0" anchor="t">
            <a:normAutofit/>
          </a:bodyPr>
          <a:lstStyle/>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শেখার পথ লম্বা</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অনেক YAML, নীরব bug</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cluster চালানোও একটা কাজ</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debug করা কঠিন</a:t>
            </a:r>
            <a:endParaRPr lang="en-US" sz="1300" dirty="0"/>
          </a:p>
        </p:txBody>
      </p:sp>
      <p:sp>
        <p:nvSpPr>
          <p:cNvPr id="9" name="Shape 7"/>
          <p:cNvSpPr/>
          <p:nvPr/>
        </p:nvSpPr>
        <p:spPr>
          <a:xfrm>
            <a:off x="7961787" y="1595689"/>
            <a:ext cx="3414216" cy="1717466"/>
          </a:xfrm>
          <a:prstGeom prst="roundRect">
            <a:avLst>
              <a:gd name="adj" fmla="val 5731"/>
            </a:avLst>
          </a:prstGeom>
          <a:solidFill>
            <a:srgbClr val="FFFFFF"/>
          </a:solidFill>
          <a:ln w="6350">
            <a:solidFill>
              <a:srgbClr val="DCDDD5"/>
            </a:solidFill>
            <a:prstDash val="solid"/>
          </a:ln>
        </p:spPr>
      </p:sp>
      <p:sp>
        <p:nvSpPr>
          <p:cNvPr id="10" name="Text 8"/>
          <p:cNvSpPr/>
          <p:nvPr/>
        </p:nvSpPr>
        <p:spPr>
          <a:xfrm>
            <a:off x="8165318" y="1799220"/>
            <a:ext cx="3097370"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Hind Siliguri" pitchFamily="34" charset="0"/>
                <a:ea typeface="Hind Siliguri" pitchFamily="34" charset="-122"/>
                <a:cs typeface="Hind Siliguri" pitchFamily="34" charset="-120"/>
              </a:rPr>
              <a:t>নেবেন না যখন</a:t>
            </a:r>
            <a:endParaRPr lang="en-US" sz="1600" dirty="0"/>
          </a:p>
        </p:txBody>
      </p:sp>
      <p:sp>
        <p:nvSpPr>
          <p:cNvPr id="11" name="Text 9"/>
          <p:cNvSpPr/>
          <p:nvPr/>
        </p:nvSpPr>
        <p:spPr>
          <a:xfrm>
            <a:off x="8244312" y="2119201"/>
            <a:ext cx="3010756" cy="1015824"/>
          </a:xfrm>
          <a:prstGeom prst="rect">
            <a:avLst/>
          </a:prstGeom>
          <a:noFill/>
          <a:ln/>
        </p:spPr>
        <p:txBody>
          <a:bodyPr wrap="square" lIns="0" tIns="0" rIns="0" bIns="0" rtlCol="0" anchor="t">
            <a:normAutofit/>
          </a:bodyPr>
          <a:lstStyle/>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১–২টা ছোট app, স্থির traffic</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cluster চালানোর কেউ নেই</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শুধু database — managed DB নিন</a:t>
            </a:r>
            <a:endParaRPr lang="en-US" sz="1300" dirty="0"/>
          </a:p>
          <a:p>
            <a:pPr algn="l" marL="175006" indent="-175006">
              <a:lnSpc>
                <a:spcPts val="1950"/>
              </a:lnSpc>
              <a:buSzPct val="100000"/>
              <a:buChar char="•"/>
            </a:pPr>
            <a:r>
              <a:rPr lang="en-US" sz="1300" dirty="0">
                <a:solidFill>
                  <a:srgbClr val="3D4A5C"/>
                </a:solidFill>
                <a:latin typeface="Hind Siliguri" pitchFamily="34" charset="0"/>
                <a:ea typeface="Hind Siliguri" pitchFamily="34" charset="-122"/>
                <a:cs typeface="Hind Siliguri" pitchFamily="34" charset="-120"/>
              </a:rPr>
              <a:t>"সবাই ব্যবহার করে" — এটা কারণ না</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1" cy="551149"/>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6F1"/>
                </a:solidFill>
                <a:latin typeface="Hind Siliguri" pitchFamily="34" charset="0"/>
                <a:ea typeface="Hind Siliguri" pitchFamily="34" charset="-122"/>
                <a:cs typeface="Hind Siliguri" pitchFamily="34" charset="-120"/>
              </a:rPr>
              <a:t>আমরা কেন Kubernetes শিখছি</a:t>
            </a:r>
            <a:endParaRPr lang="en-US" sz="3600" dirty="0"/>
          </a:p>
        </p:txBody>
      </p:sp>
      <p:sp>
        <p:nvSpPr>
          <p:cNvPr id="3" name="Shape 1"/>
          <p:cNvSpPr/>
          <p:nvPr/>
        </p:nvSpPr>
        <p:spPr>
          <a:xfrm>
            <a:off x="815942" y="1595692"/>
            <a:ext cx="5200705" cy="1180306"/>
          </a:xfrm>
          <a:prstGeom prst="roundRect">
            <a:avLst>
              <a:gd name="adj" fmla="val 8339"/>
            </a:avLst>
          </a:prstGeom>
          <a:solidFill>
            <a:srgbClr val="1F2E4F"/>
          </a:solidFill>
          <a:ln w="6350">
            <a:solidFill>
              <a:srgbClr val="3A4A6E"/>
            </a:solidFill>
            <a:prstDash val="solid"/>
          </a:ln>
        </p:spPr>
      </p:sp>
      <p:pic>
        <p:nvPicPr>
          <p:cNvPr id="4" name="Image 0" descr="Trust">    </p:cNvPr>
          <p:cNvPicPr>
            <a:picLocks noChangeAspect="1"/>
          </p:cNvPicPr>
          <p:nvPr/>
        </p:nvPicPr>
        <p:blipFill>
          <a:blip r:embed="rId1"/>
          <a:srcRect l="0" r="0" t="0" b="0"/>
          <a:stretch/>
        </p:blipFill>
        <p:spPr>
          <a:xfrm>
            <a:off x="1019473" y="1799220"/>
            <a:ext cx="304767" cy="304767"/>
          </a:xfrm>
          <a:prstGeom prst="rect">
            <a:avLst/>
          </a:prstGeom>
        </p:spPr>
      </p:pic>
      <p:sp>
        <p:nvSpPr>
          <p:cNvPr id="5" name="Text 2"/>
          <p:cNvSpPr/>
          <p:nvPr/>
        </p:nvSpPr>
        <p:spPr>
          <a:xfrm>
            <a:off x="1476596" y="1799220"/>
            <a:ext cx="4466617"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টাকার কাজে downtime চলে না</a:t>
            </a:r>
            <a:endParaRPr lang="en-US" sz="1600" dirty="0"/>
          </a:p>
        </p:txBody>
      </p:sp>
      <p:sp>
        <p:nvSpPr>
          <p:cNvPr id="6" name="Text 3"/>
          <p:cNvSpPr/>
          <p:nvPr/>
        </p:nvSpPr>
        <p:spPr>
          <a:xfrm>
            <a:off x="1476596" y="2093792"/>
            <a:ext cx="4466617"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E6"/>
                </a:solidFill>
                <a:latin typeface="Hind Siliguri" pitchFamily="34" charset="0"/>
                <a:ea typeface="Hind Siliguri" pitchFamily="34" charset="-122"/>
                <a:cs typeface="Hind Siliguri" pitchFamily="34" charset="-120"/>
              </a:rPr>
              <a:t>payment callback আর webhook — deploy এর সময়ও request হারানো যাবে না</a:t>
            </a:r>
            <a:endParaRPr lang="en-US" sz="1300" dirty="0"/>
          </a:p>
        </p:txBody>
      </p:sp>
      <p:sp>
        <p:nvSpPr>
          <p:cNvPr id="7" name="Shape 4"/>
          <p:cNvSpPr/>
          <p:nvPr/>
        </p:nvSpPr>
        <p:spPr>
          <a:xfrm>
            <a:off x="6175353" y="1595692"/>
            <a:ext cx="5200705" cy="1180306"/>
          </a:xfrm>
          <a:prstGeom prst="roundRect">
            <a:avLst>
              <a:gd name="adj" fmla="val 8339"/>
            </a:avLst>
          </a:prstGeom>
          <a:solidFill>
            <a:srgbClr val="1F2E4F"/>
          </a:solidFill>
          <a:ln w="6350">
            <a:solidFill>
              <a:srgbClr val="3A4A6E"/>
            </a:solidFill>
            <a:prstDash val="solid"/>
          </a:ln>
        </p:spPr>
      </p:sp>
      <p:pic>
        <p:nvPicPr>
          <p:cNvPr id="8" name="Image 1" descr="Link">    </p:cNvPr>
          <p:cNvPicPr>
            <a:picLocks noChangeAspect="1"/>
          </p:cNvPicPr>
          <p:nvPr/>
        </p:nvPicPr>
        <p:blipFill>
          <a:blip r:embed="rId2"/>
          <a:srcRect l="0" r="0" t="0" b="0"/>
          <a:stretch/>
        </p:blipFill>
        <p:spPr>
          <a:xfrm>
            <a:off x="6378884" y="1799220"/>
            <a:ext cx="304767" cy="304767"/>
          </a:xfrm>
          <a:prstGeom prst="rect">
            <a:avLst/>
          </a:prstGeom>
        </p:spPr>
      </p:pic>
      <p:sp>
        <p:nvSpPr>
          <p:cNvPr id="9" name="Text 5"/>
          <p:cNvSpPr/>
          <p:nvPr/>
        </p:nvSpPr>
        <p:spPr>
          <a:xfrm>
            <a:off x="6836007" y="1799220"/>
            <a:ext cx="4466617"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অনেক product, এক gateway</a:t>
            </a:r>
            <a:endParaRPr lang="en-US" sz="1600" dirty="0"/>
          </a:p>
        </p:txBody>
      </p:sp>
      <p:sp>
        <p:nvSpPr>
          <p:cNvPr id="10" name="Text 6"/>
          <p:cNvSpPr/>
          <p:nvPr/>
        </p:nvSpPr>
        <p:spPr>
          <a:xfrm>
            <a:off x="6836007" y="2093792"/>
            <a:ext cx="4466617"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E6"/>
                </a:solidFill>
                <a:latin typeface="Hind Siliguri" pitchFamily="34" charset="0"/>
                <a:ea typeface="Hind Siliguri" pitchFamily="34" charset="-122"/>
                <a:cs typeface="Hind Siliguri" pitchFamily="34" charset="-120"/>
              </a:rPr>
              <a:t>প্রতিটা service আলাদা deploy আর scale, নাম দিয়ে একে অপরকে খোঁজে</a:t>
            </a:r>
            <a:endParaRPr lang="en-US" sz="1300" dirty="0"/>
          </a:p>
        </p:txBody>
      </p:sp>
      <p:sp>
        <p:nvSpPr>
          <p:cNvPr id="11" name="Shape 7"/>
          <p:cNvSpPr/>
          <p:nvPr/>
        </p:nvSpPr>
        <p:spPr>
          <a:xfrm>
            <a:off x="815942" y="2934701"/>
            <a:ext cx="5200705" cy="1180306"/>
          </a:xfrm>
          <a:prstGeom prst="roundRect">
            <a:avLst>
              <a:gd name="adj" fmla="val 8339"/>
            </a:avLst>
          </a:prstGeom>
          <a:solidFill>
            <a:srgbClr val="1F2E4F"/>
          </a:solidFill>
          <a:ln w="6350">
            <a:solidFill>
              <a:srgbClr val="3A4A6E"/>
            </a:solidFill>
            <a:prstDash val="solid"/>
          </a:ln>
        </p:spPr>
      </p:sp>
      <p:pic>
        <p:nvPicPr>
          <p:cNvPr id="12" name="Image 2" descr="Wrench">    </p:cNvPr>
          <p:cNvPicPr>
            <a:picLocks noChangeAspect="1"/>
          </p:cNvPicPr>
          <p:nvPr/>
        </p:nvPicPr>
        <p:blipFill>
          <a:blip r:embed="rId3"/>
          <a:srcRect l="0" r="0" t="0" b="0"/>
          <a:stretch/>
        </p:blipFill>
        <p:spPr>
          <a:xfrm>
            <a:off x="1019473" y="3138233"/>
            <a:ext cx="304767" cy="304767"/>
          </a:xfrm>
          <a:prstGeom prst="rect">
            <a:avLst/>
          </a:prstGeom>
        </p:spPr>
      </p:pic>
      <p:sp>
        <p:nvSpPr>
          <p:cNvPr id="13" name="Text 8"/>
          <p:cNvSpPr/>
          <p:nvPr/>
        </p:nvSpPr>
        <p:spPr>
          <a:xfrm>
            <a:off x="1476596" y="3138233"/>
            <a:ext cx="4466617"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নিজের app নিজে বোঝা</a:t>
            </a:r>
            <a:endParaRPr lang="en-US" sz="1600" dirty="0"/>
          </a:p>
        </p:txBody>
      </p:sp>
      <p:sp>
        <p:nvSpPr>
          <p:cNvPr id="14" name="Text 9"/>
          <p:cNvSpPr/>
          <p:nvPr/>
        </p:nvSpPr>
        <p:spPr>
          <a:xfrm>
            <a:off x="1476596" y="3432801"/>
            <a:ext cx="4466617"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E6"/>
                </a:solidFill>
                <a:latin typeface="Hind Siliguri" pitchFamily="34" charset="0"/>
                <a:ea typeface="Hind Siliguri" pitchFamily="34" charset="-122"/>
                <a:cs typeface="Hind Siliguri" pitchFamily="34" charset="-120"/>
              </a:rPr>
              <a:t>cluster অন্য কেউ চালালেও YAML, health check আর debug আমাদেরই করতে হয়</a:t>
            </a:r>
            <a:endParaRPr lang="en-US" sz="1300" dirty="0"/>
          </a:p>
        </p:txBody>
      </p:sp>
      <p:sp>
        <p:nvSpPr>
          <p:cNvPr id="15" name="Shape 10"/>
          <p:cNvSpPr/>
          <p:nvPr/>
        </p:nvSpPr>
        <p:spPr>
          <a:xfrm>
            <a:off x="6175353" y="2934701"/>
            <a:ext cx="5200705" cy="1180306"/>
          </a:xfrm>
          <a:prstGeom prst="roundRect">
            <a:avLst>
              <a:gd name="adj" fmla="val 8339"/>
            </a:avLst>
          </a:prstGeom>
          <a:solidFill>
            <a:srgbClr val="1F2E4F"/>
          </a:solidFill>
          <a:ln w="6350">
            <a:solidFill>
              <a:srgbClr val="3A4A6E"/>
            </a:solidFill>
            <a:prstDash val="solid"/>
          </a:ln>
        </p:spPr>
      </p:sp>
      <p:pic>
        <p:nvPicPr>
          <p:cNvPr id="16" name="Image 3" descr="Globe">    </p:cNvPr>
          <p:cNvPicPr>
            <a:picLocks noChangeAspect="1"/>
          </p:cNvPicPr>
          <p:nvPr/>
        </p:nvPicPr>
        <p:blipFill>
          <a:blip r:embed="rId4"/>
          <a:srcRect l="0" r="0" t="0" b="0"/>
          <a:stretch/>
        </p:blipFill>
        <p:spPr>
          <a:xfrm>
            <a:off x="6378884" y="3138233"/>
            <a:ext cx="304767" cy="304767"/>
          </a:xfrm>
          <a:prstGeom prst="rect">
            <a:avLst/>
          </a:prstGeom>
        </p:spPr>
      </p:pic>
      <p:sp>
        <p:nvSpPr>
          <p:cNvPr id="17" name="Text 11"/>
          <p:cNvSpPr/>
          <p:nvPr/>
        </p:nvSpPr>
        <p:spPr>
          <a:xfrm>
            <a:off x="6836007" y="3138233"/>
            <a:ext cx="4466617"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Hind Siliguri" pitchFamily="34" charset="0"/>
                <a:ea typeface="Hind Siliguri" pitchFamily="34" charset="-122"/>
                <a:cs typeface="Hind Siliguri" pitchFamily="34" charset="-120"/>
              </a:rPr>
              <a:t>Industry standard</a:t>
            </a:r>
            <a:endParaRPr lang="en-US" sz="1600" dirty="0"/>
          </a:p>
        </p:txBody>
      </p:sp>
      <p:sp>
        <p:nvSpPr>
          <p:cNvPr id="18" name="Text 12"/>
          <p:cNvSpPr/>
          <p:nvPr/>
        </p:nvSpPr>
        <p:spPr>
          <a:xfrm>
            <a:off x="6836007" y="3432801"/>
            <a:ext cx="4466617" cy="5040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E6"/>
                </a:solidFill>
                <a:latin typeface="Hind Siliguri" pitchFamily="34" charset="0"/>
                <a:ea typeface="Hind Siliguri" pitchFamily="34" charset="-122"/>
                <a:cs typeface="Hind Siliguri" pitchFamily="34" charset="-120"/>
              </a:rPr>
              <a:t>সব বড় cloud এ একই জিনিস — একবার শিখলে সব জায়গায় কাজে লাগে</a:t>
            </a:r>
            <a:endParaRPr lang="en-US" sz="1300" dirty="0"/>
          </a:p>
        </p:txBody>
      </p:sp>
      <p:sp>
        <p:nvSpPr>
          <p:cNvPr id="19" name="Shape 13"/>
          <p:cNvSpPr/>
          <p:nvPr/>
        </p:nvSpPr>
        <p:spPr>
          <a:xfrm>
            <a:off x="812767" y="4372183"/>
            <a:ext cx="10566467" cy="967658"/>
          </a:xfrm>
          <a:prstGeom prst="roundRect">
            <a:avLst>
              <a:gd name="adj" fmla="val 10500"/>
            </a:avLst>
          </a:prstGeom>
          <a:solidFill>
            <a:srgbClr val="2456C2"/>
          </a:solidFill>
          <a:ln/>
        </p:spPr>
      </p:sp>
      <p:sp>
        <p:nvSpPr>
          <p:cNvPr id="20" name="Text 14"/>
          <p:cNvSpPr/>
          <p:nvPr/>
        </p:nvSpPr>
        <p:spPr>
          <a:xfrm>
            <a:off x="1066767" y="4575364"/>
            <a:ext cx="10360221" cy="26920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Hind Siliguri" pitchFamily="34" charset="0"/>
                <a:ea typeface="Hind Siliguri" pitchFamily="34" charset="-122"/>
                <a:cs typeface="Hind Siliguri" pitchFamily="34" charset="-120"/>
              </a:rPr>
              <a:t>পরিকল্পনা</a:t>
            </a:r>
            <a:endParaRPr lang="en-US" sz="1600" dirty="0"/>
          </a:p>
        </p:txBody>
      </p:sp>
      <p:sp>
        <p:nvSpPr>
          <p:cNvPr id="21" name="Text 15"/>
          <p:cNvSpPr/>
          <p:nvPr/>
        </p:nvSpPr>
        <p:spPr>
          <a:xfrm>
            <a:off x="1066767" y="4869932"/>
            <a:ext cx="10360221" cy="292133"/>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FFFFF"/>
                </a:solidFill>
                <a:latin typeface="Hind Siliguri" pitchFamily="34" charset="0"/>
                <a:ea typeface="Hind Siliguri" pitchFamily="34" charset="-122"/>
                <a:cs typeface="Hind Siliguri" pitchFamily="34" charset="-120"/>
              </a:rPr>
              <a:t>১৪টা phase, দিনে ১ ঘণ্টা, প্রায় ১১–১২ মাস · local lab cluster তৈরি হয়ে গেছে · পরের ধাপ: Linux আর command line এর ভিত্তি</a:t>
            </a:r>
            <a:endParaRPr lang="en-US" sz="1400" dirty="0"/>
          </a:p>
        </p:txBody>
      </p:sp>
    </p:spTree>
  </p:cSld>
  <p:clrMapOvr>
    <a:masterClrMapping/>
  </p:clrMapOvr>
</p:sld>
</file>

<file path=ppt/theme/theme1.xml><?xml version="1.0" encoding="utf-8"?>
<a:theme xmlns:a="http://schemas.openxmlformats.org/drawingml/2006/main" name="Kubernetes — এক নজরে">
  <a:themeElements>
    <a:clrScheme name="Kubernetes — এক নজরে">
      <a:dk1>
        <a:srgbClr val="14213D"/>
      </a:dk1>
      <a:lt1>
        <a:srgbClr val="F7F6F1"/>
      </a:lt1>
      <a:dk2>
        <a:srgbClr val="4D566A"/>
      </a:dk2>
      <a:lt2>
        <a:srgbClr val="E0E1DF"/>
      </a:lt2>
      <a:accent1>
        <a:srgbClr val="2456C2"/>
      </a:accent1>
      <a:accent2>
        <a:srgbClr val="8FB0F2"/>
      </a:accent2>
      <a:accent3>
        <a:srgbClr val="3D4A5C"/>
      </a:accent3>
      <a:accent4>
        <a:srgbClr val="C9D3E6"/>
      </a:accent4>
      <a:accent5>
        <a:srgbClr val="DCE6FA"/>
      </a:accent5>
      <a:accent6>
        <a:srgbClr val="9AA0A6"/>
      </a:accent6>
      <a:hlink>
        <a:srgbClr val="0563C1"/>
      </a:hlink>
      <a:folHlink>
        <a:srgbClr val="954F72"/>
      </a:folHlink>
    </a:clrScheme>
    <a:fontScheme name="Kubernetes — এক নজরে">
      <a:majorFont>
        <a:latin typeface="Hind Siligu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ind Siligu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 এক নজরে</dc:title>
  <dc:subject/>
  <dc:creator/>
  <cp:lastModifiedBy/>
  <cp:revision>1</cp:revision>
  <dcterms:created xsi:type="dcterms:W3CDTF">2026-10-14T17:51:51Z</dcterms:created>
  <dcterms:modified xsi:type="dcterms:W3CDTF">2026-10-14T17:51:51Z</dcterms:modified>
</cp:coreProperties>
</file>